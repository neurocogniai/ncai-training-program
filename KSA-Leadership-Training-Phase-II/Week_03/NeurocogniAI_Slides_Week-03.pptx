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443" r:id="rId3"/>
    <p:sldId id="459" r:id="rId4"/>
    <p:sldId id="461" r:id="rId5"/>
    <p:sldId id="460" r:id="rId6"/>
    <p:sldId id="462" r:id="rId7"/>
    <p:sldId id="463" r:id="rId8"/>
    <p:sldId id="444" r:id="rId9"/>
    <p:sldId id="464" r:id="rId10"/>
    <p:sldId id="465" r:id="rId11"/>
    <p:sldId id="466" r:id="rId12"/>
    <p:sldId id="467" r:id="rId13"/>
    <p:sldId id="468" r:id="rId14"/>
    <p:sldId id="449" r:id="rId15"/>
    <p:sldId id="450" r:id="rId16"/>
    <p:sldId id="445" r:id="rId17"/>
  </p:sldIdLst>
  <p:sldSz cx="9144000" cy="5143500" type="screen16x9"/>
  <p:notesSz cx="6858000" cy="9144000"/>
  <p:embeddedFontLst>
    <p:embeddedFont>
      <p:font typeface="Roboto"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4" d="100"/>
          <a:sy n="124" d="100"/>
        </p:scale>
        <p:origin x="274" y="91"/>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64333321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3309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70086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2691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3706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2852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34900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3309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64535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214948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41622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0023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73243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33094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33094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dc88994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dc88994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3309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brainlife.io/app/5e3c87ae9362b7166cf9c7f4"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135924" y="2032686"/>
            <a:ext cx="8878330" cy="212990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US" sz="3280" b="1" dirty="0" smtClean="0"/>
              <a:t>DATA </a:t>
            </a:r>
            <a:r>
              <a:rPr lang="en-US" sz="3280" b="1" smtClean="0"/>
              <a:t>PRE-PROCESSING TECHNIQUES / PIPELINES</a:t>
            </a:r>
            <a:r>
              <a:rPr lang="en-US" sz="3280" b="1" dirty="0" smtClean="0"/>
              <a:t/>
            </a:r>
            <a:br>
              <a:rPr lang="en-US" sz="3280" b="1" dirty="0" smtClean="0"/>
            </a:br>
            <a:r>
              <a:rPr lang="en-US" sz="3280" b="1" dirty="0" smtClean="0"/>
              <a:t>FOR</a:t>
            </a:r>
            <a:br>
              <a:rPr lang="en-US" sz="3280" b="1" dirty="0" smtClean="0"/>
            </a:br>
            <a:r>
              <a:rPr lang="en-US" sz="3280" b="1" dirty="0" smtClean="0"/>
              <a:t>AI MODELS</a:t>
            </a:r>
            <a:endParaRPr sz="3280" b="1" dirty="0"/>
          </a:p>
        </p:txBody>
      </p:sp>
      <p:pic>
        <p:nvPicPr>
          <p:cNvPr id="1026" name="Picture 2" descr="NeuroCongniAI Head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6997" y="861933"/>
            <a:ext cx="6096000" cy="10382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0" y="93306"/>
            <a:ext cx="9144000" cy="498890"/>
          </a:xfrm>
          <a:prstGeom prst="rect">
            <a:avLst/>
          </a:prstGeom>
        </p:spPr>
        <p:txBody>
          <a:bodyPr spcFirstLastPara="1" wrap="square" lIns="91425" tIns="91425" rIns="91425" bIns="91425" anchor="t" anchorCtr="0">
            <a:noAutofit/>
          </a:bodyPr>
          <a:lstStyle/>
          <a:p>
            <a:pPr algn="ctr"/>
            <a:r>
              <a:rPr lang="en-US" sz="2400" b="1" dirty="0" smtClean="0"/>
              <a:t>NEURO IMAGING DATA PRE-PROCESSING PIPELINES</a:t>
            </a:r>
            <a:endParaRPr lang="en-US" sz="2400" b="1" dirty="0"/>
          </a:p>
        </p:txBody>
      </p:sp>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0159" y="824497"/>
            <a:ext cx="6139476" cy="815331"/>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48974" y="3505257"/>
            <a:ext cx="3314700" cy="1381125"/>
          </a:xfrm>
          <a:prstGeom prst="rect">
            <a:avLst/>
          </a:prstGeom>
        </p:spPr>
      </p:pic>
      <p:sp>
        <p:nvSpPr>
          <p:cNvPr id="8" name="TextBox 7"/>
          <p:cNvSpPr txBox="1"/>
          <p:nvPr/>
        </p:nvSpPr>
        <p:spPr>
          <a:xfrm>
            <a:off x="1264844" y="2466933"/>
            <a:ext cx="6614311" cy="400110"/>
          </a:xfrm>
          <a:prstGeom prst="rect">
            <a:avLst/>
          </a:prstGeom>
          <a:noFill/>
        </p:spPr>
        <p:txBody>
          <a:bodyPr wrap="none" rtlCol="0">
            <a:spAutoFit/>
          </a:bodyPr>
          <a:lstStyle/>
          <a:p>
            <a:r>
              <a:rPr lang="en-US" sz="2000" b="1" dirty="0" smtClean="0">
                <a:solidFill>
                  <a:schemeClr val="tx1"/>
                </a:solidFill>
              </a:rPr>
              <a:t>CONVERTING DICOM / NIFTII DATA STRUCTURE TO</a:t>
            </a:r>
            <a:endParaRPr lang="en-US" sz="2000" b="1" dirty="0">
              <a:solidFill>
                <a:schemeClr val="tx1"/>
              </a:solidFill>
            </a:endParaRPr>
          </a:p>
        </p:txBody>
      </p:sp>
      <p:sp>
        <p:nvSpPr>
          <p:cNvPr id="9" name="Down Arrow 8"/>
          <p:cNvSpPr/>
          <p:nvPr/>
        </p:nvSpPr>
        <p:spPr>
          <a:xfrm>
            <a:off x="4386772" y="1639828"/>
            <a:ext cx="342777" cy="7908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p:cNvSpPr/>
          <p:nvPr/>
        </p:nvSpPr>
        <p:spPr>
          <a:xfrm>
            <a:off x="4386772" y="2903311"/>
            <a:ext cx="367613" cy="7455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4284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0" y="-79679"/>
            <a:ext cx="9038968" cy="481274"/>
          </a:xfrm>
          <a:prstGeom prst="rect">
            <a:avLst/>
          </a:prstGeom>
        </p:spPr>
        <p:txBody>
          <a:bodyPr spcFirstLastPara="1" wrap="square" lIns="91425" tIns="91425" rIns="91425" bIns="91425" anchor="t" anchorCtr="0">
            <a:noAutofit/>
          </a:bodyPr>
          <a:lstStyle/>
          <a:p>
            <a:pPr algn="ctr"/>
            <a:r>
              <a:rPr lang="en-US" sz="2400" b="1" dirty="0" smtClean="0"/>
              <a:t>NEURO IMAGING DATA PRE-PROCESSING [BIDS]</a:t>
            </a:r>
            <a:endParaRPr lang="en-US" sz="2400" b="1" dirty="0"/>
          </a:p>
        </p:txBody>
      </p:sp>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3892" y="518983"/>
            <a:ext cx="6493475" cy="4380471"/>
          </a:xfrm>
          <a:prstGeom prst="rect">
            <a:avLst/>
          </a:prstGeom>
        </p:spPr>
      </p:pic>
    </p:spTree>
    <p:extLst>
      <p:ext uri="{BB962C8B-B14F-4D97-AF65-F5344CB8AC3E}">
        <p14:creationId xmlns:p14="http://schemas.microsoft.com/office/powerpoint/2010/main" val="36923586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30" y="105032"/>
            <a:ext cx="8906938" cy="4785153"/>
          </a:xfrm>
          <a:prstGeom prst="rect">
            <a:avLst/>
          </a:prstGeom>
        </p:spPr>
      </p:pic>
    </p:spTree>
    <p:extLst>
      <p:ext uri="{BB962C8B-B14F-4D97-AF65-F5344CB8AC3E}">
        <p14:creationId xmlns:p14="http://schemas.microsoft.com/office/powerpoint/2010/main" val="23060815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oogle Shape;103;p16"/>
          <p:cNvSpPr txBox="1">
            <a:spLocks noGrp="1"/>
          </p:cNvSpPr>
          <p:nvPr>
            <p:ph type="title"/>
          </p:nvPr>
        </p:nvSpPr>
        <p:spPr>
          <a:xfrm>
            <a:off x="0" y="6812"/>
            <a:ext cx="9144000" cy="498890"/>
          </a:xfrm>
          <a:prstGeom prst="rect">
            <a:avLst/>
          </a:prstGeom>
        </p:spPr>
        <p:txBody>
          <a:bodyPr spcFirstLastPara="1" wrap="square" lIns="91425" tIns="91425" rIns="91425" bIns="91425" anchor="t" anchorCtr="0">
            <a:noAutofit/>
          </a:bodyPr>
          <a:lstStyle/>
          <a:p>
            <a:pPr algn="ctr"/>
            <a:r>
              <a:rPr lang="en-US" sz="2400" b="1" dirty="0" smtClean="0"/>
              <a:t>FUNCTIONAL MRI (fMRI) PREPROCESSING</a:t>
            </a:r>
            <a:endParaRPr lang="en-US" sz="2400" b="1" dirty="0"/>
          </a:p>
        </p:txBody>
      </p:sp>
      <p:sp>
        <p:nvSpPr>
          <p:cNvPr id="3" name="Rectangle 2"/>
          <p:cNvSpPr/>
          <p:nvPr/>
        </p:nvSpPr>
        <p:spPr>
          <a:xfrm>
            <a:off x="506627" y="543921"/>
            <a:ext cx="8365524" cy="738664"/>
          </a:xfrm>
          <a:prstGeom prst="rect">
            <a:avLst/>
          </a:prstGeom>
        </p:spPr>
        <p:txBody>
          <a:bodyPr wrap="square">
            <a:spAutoFit/>
          </a:bodyPr>
          <a:lstStyle/>
          <a:p>
            <a:pPr marL="285750" indent="-285750">
              <a:buFont typeface="Wingdings" panose="05000000000000000000" pitchFamily="2" charset="2"/>
              <a:buChar char="v"/>
            </a:pPr>
            <a:r>
              <a:rPr lang="en-US" dirty="0">
                <a:latin typeface="Roboto" panose="020B0604020202020204" charset="0"/>
              </a:rPr>
              <a:t>The goal </a:t>
            </a:r>
            <a:r>
              <a:rPr lang="en-US" dirty="0" smtClean="0">
                <a:latin typeface="Roboto" panose="020B0604020202020204" charset="0"/>
              </a:rPr>
              <a:t>is how </a:t>
            </a:r>
            <a:r>
              <a:rPr lang="en-US" dirty="0">
                <a:latin typeface="Roboto" panose="020B0604020202020204" charset="0"/>
              </a:rPr>
              <a:t>to process functional data for successive analyses, including </a:t>
            </a:r>
            <a:r>
              <a:rPr lang="en-US" b="1" dirty="0">
                <a:latin typeface="Roboto" panose="020B0604020202020204" charset="0"/>
              </a:rPr>
              <a:t>functional region analysis</a:t>
            </a:r>
            <a:r>
              <a:rPr lang="en-US" dirty="0">
                <a:latin typeface="Roboto" panose="020B0604020202020204" charset="0"/>
              </a:rPr>
              <a:t> and </a:t>
            </a:r>
            <a:r>
              <a:rPr lang="en-US" b="1" dirty="0">
                <a:latin typeface="Roboto" panose="020B0604020202020204" charset="0"/>
              </a:rPr>
              <a:t>functional </a:t>
            </a:r>
            <a:r>
              <a:rPr lang="en-US" b="1" dirty="0" smtClean="0">
                <a:latin typeface="Roboto" panose="020B0604020202020204" charset="0"/>
              </a:rPr>
              <a:t>connectivity</a:t>
            </a:r>
          </a:p>
          <a:p>
            <a:pPr marL="285750" indent="-285750">
              <a:buFont typeface="Wingdings" panose="05000000000000000000" pitchFamily="2" charset="2"/>
              <a:buChar char="v"/>
            </a:pP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762" y="1025611"/>
            <a:ext cx="7457302" cy="3926359"/>
          </a:xfrm>
          <a:prstGeom prst="rect">
            <a:avLst/>
          </a:prstGeom>
        </p:spPr>
      </p:pic>
    </p:spTree>
    <p:extLst>
      <p:ext uri="{BB962C8B-B14F-4D97-AF65-F5344CB8AC3E}">
        <p14:creationId xmlns:p14="http://schemas.microsoft.com/office/powerpoint/2010/main" val="30596087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1470" y="7937"/>
            <a:ext cx="6172199" cy="5053914"/>
          </a:xfrm>
          <a:prstGeom prst="rect">
            <a:avLst/>
          </a:prstGeom>
        </p:spPr>
      </p:pic>
    </p:spTree>
    <p:extLst>
      <p:ext uri="{BB962C8B-B14F-4D97-AF65-F5344CB8AC3E}">
        <p14:creationId xmlns:p14="http://schemas.microsoft.com/office/powerpoint/2010/main" val="9815698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5599"/>
            <a:ext cx="9144000" cy="4525674"/>
          </a:xfrm>
          <a:prstGeom prst="rect">
            <a:avLst/>
          </a:prstGeom>
        </p:spPr>
      </p:pic>
    </p:spTree>
    <p:extLst>
      <p:ext uri="{BB962C8B-B14F-4D97-AF65-F5344CB8AC3E}">
        <p14:creationId xmlns:p14="http://schemas.microsoft.com/office/powerpoint/2010/main" val="35079953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508" y="497359"/>
            <a:ext cx="7000103" cy="4639963"/>
          </a:xfrm>
          <a:prstGeom prst="rect">
            <a:avLst/>
          </a:prstGeom>
        </p:spPr>
      </p:pic>
      <p:sp>
        <p:nvSpPr>
          <p:cNvPr id="10" name="Google Shape;103;p16"/>
          <p:cNvSpPr txBox="1">
            <a:spLocks noGrp="1"/>
          </p:cNvSpPr>
          <p:nvPr>
            <p:ph type="title"/>
          </p:nvPr>
        </p:nvSpPr>
        <p:spPr>
          <a:xfrm>
            <a:off x="0" y="7937"/>
            <a:ext cx="9144000" cy="498890"/>
          </a:xfrm>
          <a:prstGeom prst="rect">
            <a:avLst/>
          </a:prstGeom>
        </p:spPr>
        <p:txBody>
          <a:bodyPr spcFirstLastPara="1" wrap="square" lIns="91425" tIns="91425" rIns="91425" bIns="91425" anchor="t" anchorCtr="0">
            <a:noAutofit/>
          </a:bodyPr>
          <a:lstStyle/>
          <a:p>
            <a:pPr algn="ctr"/>
            <a:r>
              <a:rPr lang="en-US" sz="2000" b="1" dirty="0" smtClean="0"/>
              <a:t>WORK FLOW OF NCAI [SAAS PRODUCT] FOR ALZHEIMER DETECTION</a:t>
            </a:r>
            <a:endParaRPr lang="en-US" sz="2000" b="1" dirty="0"/>
          </a:p>
        </p:txBody>
      </p:sp>
    </p:spTree>
    <p:extLst>
      <p:ext uri="{BB962C8B-B14F-4D97-AF65-F5344CB8AC3E}">
        <p14:creationId xmlns:p14="http://schemas.microsoft.com/office/powerpoint/2010/main" val="9590516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oogle Shape;103;p16"/>
          <p:cNvSpPr txBox="1">
            <a:spLocks noGrp="1"/>
          </p:cNvSpPr>
          <p:nvPr>
            <p:ph type="title"/>
          </p:nvPr>
        </p:nvSpPr>
        <p:spPr>
          <a:xfrm>
            <a:off x="0" y="-122931"/>
            <a:ext cx="9144000" cy="498890"/>
          </a:xfrm>
          <a:prstGeom prst="rect">
            <a:avLst/>
          </a:prstGeom>
        </p:spPr>
        <p:txBody>
          <a:bodyPr spcFirstLastPara="1" wrap="square" lIns="91425" tIns="91425" rIns="91425" bIns="91425" anchor="t" anchorCtr="0">
            <a:noAutofit/>
          </a:bodyPr>
          <a:lstStyle/>
          <a:p>
            <a:pPr algn="ctr"/>
            <a:r>
              <a:rPr lang="en-US" sz="2400" b="1" dirty="0" smtClean="0"/>
              <a:t>FUNCTIONAL MRI (fMRI) PREPROCESSING</a:t>
            </a:r>
            <a:endParaRPr lang="en-US" sz="2400" b="1" dirty="0"/>
          </a:p>
        </p:txBody>
      </p:sp>
      <p:sp>
        <p:nvSpPr>
          <p:cNvPr id="3" name="Rectangle 2"/>
          <p:cNvSpPr/>
          <p:nvPr/>
        </p:nvSpPr>
        <p:spPr>
          <a:xfrm>
            <a:off x="460375" y="328453"/>
            <a:ext cx="8365524" cy="4678204"/>
          </a:xfrm>
          <a:prstGeom prst="rect">
            <a:avLst/>
          </a:prstGeom>
        </p:spPr>
        <p:txBody>
          <a:bodyPr wrap="square">
            <a:spAutoFit/>
          </a:bodyPr>
          <a:lstStyle/>
          <a:p>
            <a:r>
              <a:rPr lang="en-US" sz="1600" b="1" u="sng" dirty="0" smtClean="0">
                <a:solidFill>
                  <a:schemeClr val="tx1"/>
                </a:solidFill>
              </a:rPr>
              <a:t>Anatomical preprocessing</a:t>
            </a:r>
          </a:p>
          <a:p>
            <a:pPr marL="285750" indent="-285750">
              <a:lnSpc>
                <a:spcPct val="150000"/>
              </a:lnSpc>
              <a:buFont typeface="Wingdings" panose="05000000000000000000" pitchFamily="2" charset="2"/>
              <a:buChar char="v"/>
            </a:pPr>
            <a:r>
              <a:rPr lang="en-US" dirty="0" smtClean="0"/>
              <a:t>The </a:t>
            </a:r>
            <a:r>
              <a:rPr lang="en-US" dirty="0"/>
              <a:t>first step of </a:t>
            </a:r>
            <a:r>
              <a:rPr lang="en-US" dirty="0" err="1"/>
              <a:t>fMRIPrep</a:t>
            </a:r>
            <a:r>
              <a:rPr lang="en-US" dirty="0"/>
              <a:t> </a:t>
            </a:r>
            <a:r>
              <a:rPr lang="en-US" dirty="0" smtClean="0"/>
              <a:t>involves </a:t>
            </a:r>
            <a:r>
              <a:rPr lang="en-US" dirty="0"/>
              <a:t>processing the anatomical images</a:t>
            </a:r>
            <a:r>
              <a:rPr lang="en-US" dirty="0" smtClean="0"/>
              <a:t>.</a:t>
            </a:r>
          </a:p>
          <a:p>
            <a:pPr marL="285750" indent="-285750">
              <a:lnSpc>
                <a:spcPct val="150000"/>
              </a:lnSpc>
              <a:buFont typeface="Wingdings" panose="05000000000000000000" pitchFamily="2" charset="2"/>
              <a:buChar char="v"/>
            </a:pPr>
            <a:r>
              <a:rPr lang="en-US" dirty="0"/>
              <a:t>W</a:t>
            </a:r>
            <a:r>
              <a:rPr lang="en-US" dirty="0" smtClean="0"/>
              <a:t>e </a:t>
            </a:r>
            <a:r>
              <a:rPr lang="en-US" dirty="0"/>
              <a:t>must have both of our anatomical (T1w or T2w) images and our diffusion MRI images </a:t>
            </a:r>
            <a:r>
              <a:rPr lang="en-US" b="1" dirty="0"/>
              <a:t>aligned</a:t>
            </a:r>
            <a:r>
              <a:rPr lang="en-US" dirty="0"/>
              <a:t>. </a:t>
            </a:r>
            <a:endParaRPr lang="en-US" dirty="0" smtClean="0"/>
          </a:p>
          <a:p>
            <a:pPr marL="285750" indent="-285750">
              <a:lnSpc>
                <a:spcPct val="150000"/>
              </a:lnSpc>
              <a:buFont typeface="Wingdings" panose="05000000000000000000" pitchFamily="2" charset="2"/>
              <a:buChar char="v"/>
            </a:pPr>
            <a:r>
              <a:rPr lang="en-US" dirty="0" smtClean="0"/>
              <a:t>Anatomical preprocessing is </a:t>
            </a:r>
            <a:r>
              <a:rPr lang="en-US" dirty="0"/>
              <a:t>typically done with the </a:t>
            </a:r>
            <a:r>
              <a:rPr lang="en-US" dirty="0">
                <a:hlinkClick r:id="rId3"/>
              </a:rPr>
              <a:t>FSL </a:t>
            </a:r>
            <a:r>
              <a:rPr lang="en-US" dirty="0" err="1">
                <a:hlinkClick r:id="rId3"/>
              </a:rPr>
              <a:t>Anat</a:t>
            </a:r>
            <a:r>
              <a:rPr lang="en-US" dirty="0">
                <a:hlinkClick r:id="rId3"/>
              </a:rPr>
              <a:t> (T1)</a:t>
            </a:r>
            <a:r>
              <a:rPr lang="en-US" dirty="0"/>
              <a:t> app</a:t>
            </a:r>
            <a:r>
              <a:rPr lang="en-US" dirty="0" smtClean="0"/>
              <a:t>.</a:t>
            </a:r>
          </a:p>
          <a:p>
            <a:pPr marL="285750" indent="-285750">
              <a:buFont typeface="Wingdings" panose="05000000000000000000" pitchFamily="2" charset="2"/>
              <a:buChar char="v"/>
            </a:pPr>
            <a:endParaRPr lang="en-US" dirty="0"/>
          </a:p>
          <a:p>
            <a:r>
              <a:rPr lang="en-US" sz="1600" b="1" u="sng" dirty="0" smtClean="0">
                <a:solidFill>
                  <a:schemeClr val="tx1"/>
                </a:solidFill>
              </a:rPr>
              <a:t>Functional preprocessing</a:t>
            </a:r>
          </a:p>
          <a:p>
            <a:pPr marL="285750" indent="-285750">
              <a:lnSpc>
                <a:spcPct val="150000"/>
              </a:lnSpc>
              <a:buFont typeface="Wingdings" panose="05000000000000000000" pitchFamily="2" charset="2"/>
              <a:buChar char="v"/>
            </a:pPr>
            <a:r>
              <a:rPr lang="en-US" dirty="0" smtClean="0"/>
              <a:t>The second step of </a:t>
            </a:r>
            <a:r>
              <a:rPr lang="en-US" dirty="0" err="1" smtClean="0"/>
              <a:t>fMRIPrep</a:t>
            </a:r>
            <a:r>
              <a:rPr lang="en-US" dirty="0" smtClean="0"/>
              <a:t> involves processing the functional (fMRI) images. </a:t>
            </a:r>
          </a:p>
          <a:p>
            <a:pPr marL="285750" indent="-285750">
              <a:lnSpc>
                <a:spcPct val="150000"/>
              </a:lnSpc>
              <a:buFont typeface="Wingdings" panose="05000000000000000000" pitchFamily="2" charset="2"/>
              <a:buChar char="v"/>
            </a:pPr>
            <a:r>
              <a:rPr lang="en-US" dirty="0" err="1" smtClean="0"/>
              <a:t>fMRIPrep</a:t>
            </a:r>
            <a:r>
              <a:rPr lang="en-US" dirty="0" smtClean="0"/>
              <a:t> </a:t>
            </a:r>
            <a:r>
              <a:rPr lang="en-US" dirty="0"/>
              <a:t>will estimate the motion that occurred across all of the fMRI volumes and correct for it. This will align all of the volumes perfectly to ensure motion is not altering the data</a:t>
            </a:r>
            <a:r>
              <a:rPr lang="en-US" dirty="0" smtClean="0"/>
              <a:t>.</a:t>
            </a:r>
          </a:p>
          <a:p>
            <a:pPr marL="285750" indent="-285750">
              <a:lnSpc>
                <a:spcPct val="150000"/>
              </a:lnSpc>
              <a:buFont typeface="Wingdings" panose="05000000000000000000" pitchFamily="2" charset="2"/>
              <a:buChar char="v"/>
            </a:pPr>
            <a:r>
              <a:rPr lang="en-US" dirty="0" err="1"/>
              <a:t>fMRIPrep</a:t>
            </a:r>
            <a:r>
              <a:rPr lang="en-US" dirty="0"/>
              <a:t> can additionally fix the lag in the BOLD signal and the fact that we need to acquire data in non-contiguous slices</a:t>
            </a:r>
            <a:r>
              <a:rPr lang="en-US" dirty="0" smtClean="0"/>
              <a:t>.</a:t>
            </a:r>
          </a:p>
          <a:p>
            <a:pPr marL="285750" indent="-285750">
              <a:lnSpc>
                <a:spcPct val="150000"/>
              </a:lnSpc>
              <a:buFont typeface="Wingdings" panose="05000000000000000000" pitchFamily="2" charset="2"/>
              <a:buChar char="v"/>
            </a:pPr>
            <a:r>
              <a:rPr lang="en-US" dirty="0" smtClean="0"/>
              <a:t>Images </a:t>
            </a:r>
            <a:r>
              <a:rPr lang="en-US" dirty="0"/>
              <a:t>from the fMRI scanner might not be perfectly aligned to images collected before it, such as the anatomical images. </a:t>
            </a:r>
            <a:endParaRPr lang="en-US" dirty="0" smtClean="0"/>
          </a:p>
          <a:p>
            <a:pPr marL="285750" indent="-285750">
              <a:lnSpc>
                <a:spcPct val="150000"/>
              </a:lnSpc>
              <a:buFont typeface="Wingdings" panose="05000000000000000000" pitchFamily="2" charset="2"/>
              <a:buChar char="v"/>
            </a:pPr>
            <a:r>
              <a:rPr lang="en-US" dirty="0"/>
              <a:t>R</a:t>
            </a:r>
            <a:r>
              <a:rPr lang="en-US" dirty="0" smtClean="0"/>
              <a:t>egister </a:t>
            </a:r>
            <a:r>
              <a:rPr lang="en-US" dirty="0"/>
              <a:t>the functional volumes to the anatomical image and map the fMRI signal onto the surfaces generated in the anatomical preprocessing </a:t>
            </a:r>
            <a:r>
              <a:rPr lang="en-US" dirty="0" smtClean="0"/>
              <a:t>step.</a:t>
            </a:r>
            <a:endParaRPr lang="en-US" dirty="0"/>
          </a:p>
        </p:txBody>
      </p:sp>
    </p:spTree>
    <p:extLst>
      <p:ext uri="{BB962C8B-B14F-4D97-AF65-F5344CB8AC3E}">
        <p14:creationId xmlns:p14="http://schemas.microsoft.com/office/powerpoint/2010/main" val="32201906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oogle Shape;103;p16"/>
          <p:cNvSpPr txBox="1">
            <a:spLocks noGrp="1"/>
          </p:cNvSpPr>
          <p:nvPr>
            <p:ph type="title"/>
          </p:nvPr>
        </p:nvSpPr>
        <p:spPr>
          <a:xfrm>
            <a:off x="0" y="-79685"/>
            <a:ext cx="9144000" cy="498890"/>
          </a:xfrm>
          <a:prstGeom prst="rect">
            <a:avLst/>
          </a:prstGeom>
        </p:spPr>
        <p:txBody>
          <a:bodyPr spcFirstLastPara="1" wrap="square" lIns="91425" tIns="91425" rIns="91425" bIns="91425" anchor="t" anchorCtr="0">
            <a:noAutofit/>
          </a:bodyPr>
          <a:lstStyle/>
          <a:p>
            <a:pPr algn="ctr"/>
            <a:r>
              <a:rPr lang="en-US" sz="2400" b="1" dirty="0" smtClean="0"/>
              <a:t>COMPARISON BETWEEN CONN TOOLBOX VS </a:t>
            </a:r>
            <a:r>
              <a:rPr lang="en-US" sz="2400" b="1" dirty="0" err="1" smtClean="0"/>
              <a:t>fMRIPrep</a:t>
            </a:r>
            <a:endParaRPr lang="en-US" sz="2400" b="1" dirty="0"/>
          </a:p>
        </p:txBody>
      </p:sp>
      <p:pic>
        <p:nvPicPr>
          <p:cNvPr id="2" name="Picture 1"/>
          <p:cNvPicPr>
            <a:picLocks noChangeAspect="1"/>
          </p:cNvPicPr>
          <p:nvPr/>
        </p:nvPicPr>
        <p:blipFill>
          <a:blip r:embed="rId3"/>
          <a:stretch>
            <a:fillRect/>
          </a:stretch>
        </p:blipFill>
        <p:spPr>
          <a:xfrm>
            <a:off x="414594" y="507011"/>
            <a:ext cx="7024173" cy="4387165"/>
          </a:xfrm>
          <a:prstGeom prst="rect">
            <a:avLst/>
          </a:prstGeom>
        </p:spPr>
      </p:pic>
    </p:spTree>
    <p:extLst>
      <p:ext uri="{BB962C8B-B14F-4D97-AF65-F5344CB8AC3E}">
        <p14:creationId xmlns:p14="http://schemas.microsoft.com/office/powerpoint/2010/main" val="13273138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oogle Shape;103;p16"/>
          <p:cNvSpPr txBox="1">
            <a:spLocks noGrp="1"/>
          </p:cNvSpPr>
          <p:nvPr>
            <p:ph type="title"/>
          </p:nvPr>
        </p:nvSpPr>
        <p:spPr>
          <a:xfrm>
            <a:off x="0" y="-79685"/>
            <a:ext cx="9144000" cy="498890"/>
          </a:xfrm>
          <a:prstGeom prst="rect">
            <a:avLst/>
          </a:prstGeom>
        </p:spPr>
        <p:txBody>
          <a:bodyPr spcFirstLastPara="1" wrap="square" lIns="91425" tIns="91425" rIns="91425" bIns="91425" anchor="t" anchorCtr="0">
            <a:noAutofit/>
          </a:bodyPr>
          <a:lstStyle/>
          <a:p>
            <a:pPr algn="ctr"/>
            <a:r>
              <a:rPr lang="en-US" sz="2400" b="1" dirty="0" smtClean="0"/>
              <a:t>COMPARISON BETWEEN CONN TOOLBOX VS </a:t>
            </a:r>
            <a:r>
              <a:rPr lang="en-US" sz="2400" b="1" dirty="0" err="1" smtClean="0"/>
              <a:t>fMRIPrep</a:t>
            </a:r>
            <a:endParaRPr lang="en-US" sz="2400" b="1" dirty="0"/>
          </a:p>
        </p:txBody>
      </p:sp>
      <p:pic>
        <p:nvPicPr>
          <p:cNvPr id="3" name="Picture 2"/>
          <p:cNvPicPr>
            <a:picLocks noChangeAspect="1"/>
          </p:cNvPicPr>
          <p:nvPr/>
        </p:nvPicPr>
        <p:blipFill>
          <a:blip r:embed="rId3"/>
          <a:stretch>
            <a:fillRect/>
          </a:stretch>
        </p:blipFill>
        <p:spPr>
          <a:xfrm>
            <a:off x="542335" y="381363"/>
            <a:ext cx="7794472" cy="4508780"/>
          </a:xfrm>
          <a:prstGeom prst="rect">
            <a:avLst/>
          </a:prstGeom>
        </p:spPr>
      </p:pic>
    </p:spTree>
    <p:extLst>
      <p:ext uri="{BB962C8B-B14F-4D97-AF65-F5344CB8AC3E}">
        <p14:creationId xmlns:p14="http://schemas.microsoft.com/office/powerpoint/2010/main" val="843963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oogle Shape;103;p16"/>
          <p:cNvSpPr txBox="1">
            <a:spLocks noGrp="1"/>
          </p:cNvSpPr>
          <p:nvPr>
            <p:ph type="title"/>
          </p:nvPr>
        </p:nvSpPr>
        <p:spPr>
          <a:xfrm>
            <a:off x="0" y="-79685"/>
            <a:ext cx="9144000" cy="498890"/>
          </a:xfrm>
          <a:prstGeom prst="rect">
            <a:avLst/>
          </a:prstGeom>
        </p:spPr>
        <p:txBody>
          <a:bodyPr spcFirstLastPara="1" wrap="square" lIns="91425" tIns="91425" rIns="91425" bIns="91425" anchor="t" anchorCtr="0">
            <a:noAutofit/>
          </a:bodyPr>
          <a:lstStyle/>
          <a:p>
            <a:pPr algn="ctr"/>
            <a:r>
              <a:rPr lang="en-US" sz="2400" b="1" dirty="0" smtClean="0"/>
              <a:t>COMPARISON BETWEEN CONN TOOLBOX VS </a:t>
            </a:r>
            <a:r>
              <a:rPr lang="en-US" sz="2400" b="1" dirty="0" err="1" smtClean="0"/>
              <a:t>fMRIPrep</a:t>
            </a:r>
            <a:endParaRPr lang="en-US" sz="2400" b="1" dirty="0"/>
          </a:p>
        </p:txBody>
      </p:sp>
      <p:pic>
        <p:nvPicPr>
          <p:cNvPr id="2" name="Picture 1"/>
          <p:cNvPicPr>
            <a:picLocks noChangeAspect="1"/>
          </p:cNvPicPr>
          <p:nvPr/>
        </p:nvPicPr>
        <p:blipFill>
          <a:blip r:embed="rId3"/>
          <a:stretch>
            <a:fillRect/>
          </a:stretch>
        </p:blipFill>
        <p:spPr>
          <a:xfrm>
            <a:off x="908253" y="566115"/>
            <a:ext cx="6615051" cy="4323049"/>
          </a:xfrm>
          <a:prstGeom prst="rect">
            <a:avLst/>
          </a:prstGeom>
        </p:spPr>
      </p:pic>
    </p:spTree>
    <p:extLst>
      <p:ext uri="{BB962C8B-B14F-4D97-AF65-F5344CB8AC3E}">
        <p14:creationId xmlns:p14="http://schemas.microsoft.com/office/powerpoint/2010/main" val="8960440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oogle Shape;103;p16"/>
          <p:cNvSpPr txBox="1">
            <a:spLocks noGrp="1"/>
          </p:cNvSpPr>
          <p:nvPr>
            <p:ph type="title"/>
          </p:nvPr>
        </p:nvSpPr>
        <p:spPr>
          <a:xfrm>
            <a:off x="0" y="-79685"/>
            <a:ext cx="9144000" cy="498890"/>
          </a:xfrm>
          <a:prstGeom prst="rect">
            <a:avLst/>
          </a:prstGeom>
        </p:spPr>
        <p:txBody>
          <a:bodyPr spcFirstLastPara="1" wrap="square" lIns="91425" tIns="91425" rIns="91425" bIns="91425" anchor="t" anchorCtr="0">
            <a:noAutofit/>
          </a:bodyPr>
          <a:lstStyle/>
          <a:p>
            <a:pPr algn="ctr"/>
            <a:r>
              <a:rPr lang="en-US" sz="2400" b="1" dirty="0" smtClean="0"/>
              <a:t>COMPARISON BETWEEN CONN TOOLBOX VS </a:t>
            </a:r>
            <a:r>
              <a:rPr lang="en-US" sz="2400" b="1" dirty="0" err="1" smtClean="0"/>
              <a:t>fMRIPrep</a:t>
            </a:r>
            <a:endParaRPr lang="en-US" sz="2400" b="1" dirty="0"/>
          </a:p>
        </p:txBody>
      </p:sp>
      <p:pic>
        <p:nvPicPr>
          <p:cNvPr id="3" name="Picture 2"/>
          <p:cNvPicPr>
            <a:picLocks noChangeAspect="1"/>
          </p:cNvPicPr>
          <p:nvPr/>
        </p:nvPicPr>
        <p:blipFill>
          <a:blip r:embed="rId3"/>
          <a:stretch>
            <a:fillRect/>
          </a:stretch>
        </p:blipFill>
        <p:spPr>
          <a:xfrm>
            <a:off x="851335" y="467473"/>
            <a:ext cx="6917909" cy="4432200"/>
          </a:xfrm>
          <a:prstGeom prst="rect">
            <a:avLst/>
          </a:prstGeom>
        </p:spPr>
      </p:pic>
    </p:spTree>
    <p:extLst>
      <p:ext uri="{BB962C8B-B14F-4D97-AF65-F5344CB8AC3E}">
        <p14:creationId xmlns:p14="http://schemas.microsoft.com/office/powerpoint/2010/main" val="4999683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0" y="7937"/>
            <a:ext cx="9144000" cy="498890"/>
          </a:xfrm>
          <a:prstGeom prst="rect">
            <a:avLst/>
          </a:prstGeom>
        </p:spPr>
        <p:txBody>
          <a:bodyPr spcFirstLastPara="1" wrap="square" lIns="91425" tIns="91425" rIns="91425" bIns="91425" anchor="t" anchorCtr="0">
            <a:noAutofit/>
          </a:bodyPr>
          <a:lstStyle/>
          <a:p>
            <a:pPr algn="ctr"/>
            <a:r>
              <a:rPr lang="en-US" sz="2000" b="1" dirty="0" smtClean="0"/>
              <a:t>NEURO IMAGING DATA PRE-PROCESSING PIPELINES [ </a:t>
            </a:r>
            <a:r>
              <a:rPr lang="en-US" sz="2000" b="1" dirty="0" err="1" smtClean="0"/>
              <a:t>fMRIPrep</a:t>
            </a:r>
            <a:r>
              <a:rPr lang="en-US" sz="2000" b="1" dirty="0" smtClean="0"/>
              <a:t> ]</a:t>
            </a:r>
            <a:endParaRPr lang="en-US" sz="2000" b="1" dirty="0"/>
          </a:p>
        </p:txBody>
      </p:sp>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74594"/>
            <a:ext cx="9144000" cy="4111565"/>
          </a:xfrm>
          <a:prstGeom prst="rect">
            <a:avLst/>
          </a:prstGeom>
        </p:spPr>
      </p:pic>
    </p:spTree>
    <p:extLst>
      <p:ext uri="{BB962C8B-B14F-4D97-AF65-F5344CB8AC3E}">
        <p14:creationId xmlns:p14="http://schemas.microsoft.com/office/powerpoint/2010/main" val="19010847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0" y="-89107"/>
            <a:ext cx="9144000" cy="498890"/>
          </a:xfrm>
          <a:prstGeom prst="rect">
            <a:avLst/>
          </a:prstGeom>
        </p:spPr>
        <p:txBody>
          <a:bodyPr spcFirstLastPara="1" wrap="square" lIns="91425" tIns="91425" rIns="91425" bIns="91425" anchor="t" anchorCtr="0">
            <a:noAutofit/>
          </a:bodyPr>
          <a:lstStyle/>
          <a:p>
            <a:pPr algn="ctr"/>
            <a:r>
              <a:rPr lang="en-US" sz="2400" b="1" dirty="0" smtClean="0"/>
              <a:t>NEURO IMAGING DATA PRE-PROCESSING PIPELINES [ </a:t>
            </a:r>
            <a:r>
              <a:rPr lang="en-US" sz="2400" b="1" dirty="0" err="1" smtClean="0"/>
              <a:t>Clinica</a:t>
            </a:r>
            <a:r>
              <a:rPr lang="en-US" sz="2400" b="1" dirty="0" smtClean="0"/>
              <a:t> ]</a:t>
            </a:r>
            <a:endParaRPr lang="en-US" sz="2400" b="1" dirty="0"/>
          </a:p>
        </p:txBody>
      </p:sp>
      <p:sp>
        <p:nvSpPr>
          <p:cNvPr id="4" name="AutoShape 2" descr="CAT12.9 - Computational Anatomy Toolbox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93" y="409783"/>
            <a:ext cx="9088395" cy="4733716"/>
          </a:xfrm>
          <a:prstGeom prst="rect">
            <a:avLst/>
          </a:prstGeom>
        </p:spPr>
      </p:pic>
    </p:spTree>
    <p:extLst>
      <p:ext uri="{BB962C8B-B14F-4D97-AF65-F5344CB8AC3E}">
        <p14:creationId xmlns:p14="http://schemas.microsoft.com/office/powerpoint/2010/main" val="32318535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29328"/>
            <a:ext cx="9144000" cy="2667000"/>
          </a:xfrm>
          <a:prstGeom prst="rect">
            <a:avLst/>
          </a:prstGeom>
        </p:spPr>
      </p:pic>
    </p:spTree>
    <p:extLst>
      <p:ext uri="{BB962C8B-B14F-4D97-AF65-F5344CB8AC3E}">
        <p14:creationId xmlns:p14="http://schemas.microsoft.com/office/powerpoint/2010/main" val="3499717460"/>
      </p:ext>
    </p:extLst>
  </p:cSld>
  <p:clrMapOvr>
    <a:masterClrMapping/>
  </p:clrMapOvr>
  <p:timing>
    <p:tnLst>
      <p:par>
        <p:cTn id="1" dur="indefinite" restart="never" nodeType="tmRoot"/>
      </p:par>
    </p:tnLst>
  </p:timing>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14900</TotalTime>
  <Words>131</Words>
  <Application>Microsoft Office PowerPoint</Application>
  <PresentationFormat>On-screen Show (16:9)</PresentationFormat>
  <Paragraphs>25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Wingdings</vt:lpstr>
      <vt:lpstr>Roboto</vt:lpstr>
      <vt:lpstr>Geometric</vt:lpstr>
      <vt:lpstr>DATA PRE-PROCESSING TECHNIQUES / PIPELINES FOR AI MODELS</vt:lpstr>
      <vt:lpstr>NEURO IMAGING DATA PRE-PROCESSING PIPELINES</vt:lpstr>
      <vt:lpstr>NEURO IMAGING DATA PRE-PROCESSING [BIDS]</vt:lpstr>
      <vt:lpstr>PowerPoint Presentation</vt:lpstr>
      <vt:lpstr>FUNCTIONAL MRI (fMRI) PREPROCESSING</vt:lpstr>
      <vt:lpstr>PowerPoint Presentation</vt:lpstr>
      <vt:lpstr>PowerPoint Presentation</vt:lpstr>
      <vt:lpstr>WORK FLOW OF NCAI [SAAS PRODUCT] FOR ALZHEIMER DETECTION</vt:lpstr>
      <vt:lpstr>FUNCTIONAL MRI (fMRI) PREPROCESSING</vt:lpstr>
      <vt:lpstr>COMPARISON BETWEEN CONN TOOLBOX VS fMRIPrep</vt:lpstr>
      <vt:lpstr>COMPARISON BETWEEN CONN TOOLBOX VS fMRIPrep</vt:lpstr>
      <vt:lpstr>COMPARISON BETWEEN CONN TOOLBOX VS fMRIPrep</vt:lpstr>
      <vt:lpstr>COMPARISON BETWEEN CONN TOOLBOX VS fMRIPrep</vt:lpstr>
      <vt:lpstr>NEURO IMAGING DATA PRE-PROCESSING PIPELINES [ fMRIPrep ]</vt:lpstr>
      <vt:lpstr>NEURO IMAGING DATA PRE-PROCESSING PIPELINES [ Clinica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YEAR DIPLOMA IN ADVANCE WEB TECHNOLOGY</dc:title>
  <dc:creator>azam</dc:creator>
  <cp:lastModifiedBy>Azam</cp:lastModifiedBy>
  <cp:revision>221</cp:revision>
  <dcterms:modified xsi:type="dcterms:W3CDTF">2025-10-10T13:04:33Z</dcterms:modified>
</cp:coreProperties>
</file>