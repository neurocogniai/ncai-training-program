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475" r:id="rId3"/>
    <p:sldId id="479" r:id="rId4"/>
    <p:sldId id="493" r:id="rId5"/>
    <p:sldId id="495" r:id="rId6"/>
    <p:sldId id="492" r:id="rId7"/>
    <p:sldId id="494" r:id="rId8"/>
    <p:sldId id="488" r:id="rId9"/>
    <p:sldId id="487" r:id="rId10"/>
    <p:sldId id="491" r:id="rId1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9143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6843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6971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42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4332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2909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102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9699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3708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235127" y="2235657"/>
            <a:ext cx="6791550" cy="22674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MRI-BASED PET AMYLOID SYNTHESIS &amp; QUANTIFICATION</a:t>
            </a:r>
            <a:br>
              <a:rPr lang="en-US" sz="3280" b="1" dirty="0" smtClean="0"/>
            </a:br>
            <a:r>
              <a:rPr lang="en-US" sz="3280" b="1" dirty="0" smtClean="0"/>
              <a:t> FOR </a:t>
            </a:r>
            <a:br>
              <a:rPr lang="en-US" sz="3280" b="1" dirty="0" smtClean="0"/>
            </a:br>
            <a:r>
              <a:rPr lang="en-US" sz="3280" b="1" dirty="0" smtClean="0"/>
              <a:t>EARLY ALZHEIMER DETECTION</a:t>
            </a:r>
            <a:endParaRPr sz="3280" b="1" dirty="0"/>
          </a:p>
        </p:txBody>
      </p:sp>
      <p:pic>
        <p:nvPicPr>
          <p:cNvPr id="1026" name="Picture 2" descr="NeuroCongniAI H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87" y="1034929"/>
            <a:ext cx="6096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24712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9778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212998"/>
            <a:ext cx="825431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Early Alzheimer's Detection: </a:t>
            </a:r>
            <a:r>
              <a:rPr lang="en-US" b="1" dirty="0" smtClean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MRI-Based PET Amyloid Synthesis Architecture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2"/>
          <p:cNvSpPr/>
          <p:nvPr/>
        </p:nvSpPr>
        <p:spPr>
          <a:xfrm>
            <a:off x="237095" y="2377237"/>
            <a:ext cx="2286000" cy="10568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4"/>
          <p:cNvSpPr/>
          <p:nvPr/>
        </p:nvSpPr>
        <p:spPr>
          <a:xfrm>
            <a:off x="312015" y="2893688"/>
            <a:ext cx="1157368" cy="1412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</a:t>
            </a:r>
            <a:r>
              <a:rPr lang="en-US" sz="885" b="1" dirty="0" smtClean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MRI (</a:t>
            </a:r>
            <a:r>
              <a:rPr lang="en-US" sz="885" b="1" dirty="0" err="1" smtClean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sMRI</a:t>
            </a:r>
            <a:r>
              <a:rPr lang="en-US" sz="885" b="1" dirty="0" smtClean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885" dirty="0"/>
          </a:p>
        </p:txBody>
      </p:sp>
      <p:sp>
        <p:nvSpPr>
          <p:cNvPr id="13" name="Text 5"/>
          <p:cNvSpPr/>
          <p:nvPr/>
        </p:nvSpPr>
        <p:spPr>
          <a:xfrm>
            <a:off x="312015" y="3062673"/>
            <a:ext cx="2000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High-resolution mapping of hippocampal and cortical atrophy.</a:t>
            </a:r>
            <a:endParaRPr lang="en-US" sz="727" dirty="0"/>
          </a:p>
        </p:txBody>
      </p:sp>
      <p:sp>
        <p:nvSpPr>
          <p:cNvPr id="14" name="Shape 3"/>
          <p:cNvSpPr/>
          <p:nvPr/>
        </p:nvSpPr>
        <p:spPr>
          <a:xfrm>
            <a:off x="206206" y="2377277"/>
            <a:ext cx="42863" cy="105688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10"/>
          <p:cNvSpPr/>
          <p:nvPr/>
        </p:nvSpPr>
        <p:spPr>
          <a:xfrm>
            <a:off x="4513932" y="2022432"/>
            <a:ext cx="1660201" cy="1697119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3209" y="2263634"/>
            <a:ext cx="428625" cy="428625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6" name="Text 11"/>
          <p:cNvSpPr/>
          <p:nvPr/>
        </p:nvSpPr>
        <p:spPr>
          <a:xfrm>
            <a:off x="4528448" y="2785467"/>
            <a:ext cx="1587629" cy="342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NCAI </a:t>
            </a:r>
            <a:endParaRPr lang="en-US" sz="987" b="1" dirty="0" smtClean="0">
              <a:solidFill>
                <a:schemeClr val="tx1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 smtClean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 </a:t>
            </a:r>
            <a:endParaRPr lang="en-US" sz="987" dirty="0">
              <a:solidFill>
                <a:schemeClr val="tx1"/>
              </a:solidFill>
            </a:endParaRPr>
          </a:p>
        </p:txBody>
      </p:sp>
      <p:sp>
        <p:nvSpPr>
          <p:cNvPr id="27" name="Text 12"/>
          <p:cNvSpPr/>
          <p:nvPr/>
        </p:nvSpPr>
        <p:spPr>
          <a:xfrm>
            <a:off x="4721999" y="3174914"/>
            <a:ext cx="1214334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</a:t>
            </a:r>
            <a:r>
              <a:rPr lang="en-US" sz="800" b="1" dirty="0" smtClean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Recognition / PET Synthesis </a:t>
            </a:r>
            <a:r>
              <a:rPr lang="en-US" sz="8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endParaRPr lang="en-US" sz="8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330" y="2373317"/>
            <a:ext cx="420908" cy="484044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6770454" y="1913846"/>
            <a:ext cx="2286000" cy="1270109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29" name="Text 14"/>
          <p:cNvSpPr/>
          <p:nvPr/>
        </p:nvSpPr>
        <p:spPr>
          <a:xfrm>
            <a:off x="7122703" y="2007609"/>
            <a:ext cx="157549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/>
                <a:cs typeface="Inter" pitchFamily="34" charset="-120"/>
              </a:rPr>
              <a:t>PREDICTED </a:t>
            </a:r>
            <a:r>
              <a:rPr lang="en-US" sz="1000" b="1" kern="0" spc="1" dirty="0" smtClean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/>
                <a:cs typeface="Inter" pitchFamily="34" charset="-120"/>
              </a:rPr>
              <a:t>SYNTHETIC PET</a:t>
            </a:r>
            <a:endParaRPr lang="en-US" sz="1000" b="1" dirty="0">
              <a:ea typeface="Inter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6770453" y="3305058"/>
            <a:ext cx="2278743" cy="71917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F4A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Breakthrough:</a:t>
            </a:r>
            <a:r>
              <a:rPr lang="en-US" sz="727" dirty="0">
                <a:solidFill>
                  <a:srgbClr val="0F4A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Bridges the gap between low-cost MRI and expensive PET scans, identifying patterns invisible to the human eye.</a:t>
            </a:r>
            <a:endParaRPr lang="en-US" sz="727" dirty="0"/>
          </a:p>
        </p:txBody>
      </p:sp>
      <p:sp>
        <p:nvSpPr>
          <p:cNvPr id="6" name="Rounded Rectangle 5"/>
          <p:cNvSpPr/>
          <p:nvPr/>
        </p:nvSpPr>
        <p:spPr>
          <a:xfrm>
            <a:off x="2985697" y="1676399"/>
            <a:ext cx="667657" cy="234612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NCAI Data Preprocessing Pipeline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2553984" y="2853133"/>
            <a:ext cx="409942" cy="91354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3671584" y="2771552"/>
            <a:ext cx="624178" cy="267263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4364379" y="1904438"/>
            <a:ext cx="1969870" cy="1938227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6370536" y="2788857"/>
            <a:ext cx="376589" cy="242932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9441" y="2226169"/>
            <a:ext cx="736543" cy="8757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9370" y="2206278"/>
            <a:ext cx="688053" cy="88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3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24712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9368"/>
            <a:ext cx="8254313" cy="40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700" b="1" dirty="0" smtClean="0">
                <a:solidFill>
                  <a:srgbClr val="FFFFFF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DATA SETS OF ALZHEIMER’S BIOMARKERS FOR </a:t>
            </a:r>
            <a:r>
              <a:rPr lang="en-US" sz="1700" b="1" dirty="0" smtClean="0">
                <a:solidFill>
                  <a:srgbClr val="FFFFFF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MRI-BASED PET SYNTHESIS </a:t>
            </a:r>
            <a:endParaRPr sz="1700" b="1" dirty="0">
              <a:latin typeface="Arial" panose="020B0604020202020204" pitchFamily="34" charset="0"/>
              <a:ea typeface="Raleway"/>
              <a:cs typeface="Arial" panose="020B0604020202020204" pitchFamily="34" charset="0"/>
              <a:sym typeface="Raleway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946342"/>
              </p:ext>
            </p:extLst>
          </p:nvPr>
        </p:nvGraphicFramePr>
        <p:xfrm>
          <a:off x="273273" y="756748"/>
          <a:ext cx="8240103" cy="4163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5567">
                  <a:extLst>
                    <a:ext uri="{9D8B030D-6E8A-4147-A177-3AD203B41FA5}">
                      <a16:colId xmlns:a16="http://schemas.microsoft.com/office/drawing/2014/main" val="4278826378"/>
                    </a:ext>
                  </a:extLst>
                </a:gridCol>
                <a:gridCol w="915567">
                  <a:extLst>
                    <a:ext uri="{9D8B030D-6E8A-4147-A177-3AD203B41FA5}">
                      <a16:colId xmlns:a16="http://schemas.microsoft.com/office/drawing/2014/main" val="3393159043"/>
                    </a:ext>
                  </a:extLst>
                </a:gridCol>
                <a:gridCol w="915567">
                  <a:extLst>
                    <a:ext uri="{9D8B030D-6E8A-4147-A177-3AD203B41FA5}">
                      <a16:colId xmlns:a16="http://schemas.microsoft.com/office/drawing/2014/main" val="191180748"/>
                    </a:ext>
                  </a:extLst>
                </a:gridCol>
                <a:gridCol w="915567">
                  <a:extLst>
                    <a:ext uri="{9D8B030D-6E8A-4147-A177-3AD203B41FA5}">
                      <a16:colId xmlns:a16="http://schemas.microsoft.com/office/drawing/2014/main" val="3237084328"/>
                    </a:ext>
                  </a:extLst>
                </a:gridCol>
                <a:gridCol w="915567">
                  <a:extLst>
                    <a:ext uri="{9D8B030D-6E8A-4147-A177-3AD203B41FA5}">
                      <a16:colId xmlns:a16="http://schemas.microsoft.com/office/drawing/2014/main" val="1264128325"/>
                    </a:ext>
                  </a:extLst>
                </a:gridCol>
                <a:gridCol w="915567">
                  <a:extLst>
                    <a:ext uri="{9D8B030D-6E8A-4147-A177-3AD203B41FA5}">
                      <a16:colId xmlns:a16="http://schemas.microsoft.com/office/drawing/2014/main" val="3227575027"/>
                    </a:ext>
                  </a:extLst>
                </a:gridCol>
                <a:gridCol w="915567">
                  <a:extLst>
                    <a:ext uri="{9D8B030D-6E8A-4147-A177-3AD203B41FA5}">
                      <a16:colId xmlns:a16="http://schemas.microsoft.com/office/drawing/2014/main" val="3041003651"/>
                    </a:ext>
                  </a:extLst>
                </a:gridCol>
                <a:gridCol w="915567">
                  <a:extLst>
                    <a:ext uri="{9D8B030D-6E8A-4147-A177-3AD203B41FA5}">
                      <a16:colId xmlns:a16="http://schemas.microsoft.com/office/drawing/2014/main" val="4046645490"/>
                    </a:ext>
                  </a:extLst>
                </a:gridCol>
                <a:gridCol w="915567">
                  <a:extLst>
                    <a:ext uri="{9D8B030D-6E8A-4147-A177-3AD203B41FA5}">
                      <a16:colId xmlns:a16="http://schemas.microsoft.com/office/drawing/2014/main" val="1192390152"/>
                    </a:ext>
                  </a:extLst>
                </a:gridCol>
              </a:tblGrid>
              <a:tr h="6226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BIOMARKER CLASS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NO OF SUBJECTS [n] 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CLASS DISTRIBUTION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AGE (Years) Mean ± S.D.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EDUCATIONAL LEVEL (Years) Mean ± S.D.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MALE / FEMALE (n%)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RACE (White, Black, Asian, American, Indian, Pacific, </a:t>
                      </a:r>
                      <a:r>
                        <a:rPr lang="en-US" sz="800" u="none" strike="noStrike" dirty="0" err="1">
                          <a:effectLst/>
                        </a:rPr>
                        <a:t>Multirace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nl-NL" sz="800" u="none" strike="noStrike" dirty="0">
                          <a:effectLst/>
                        </a:rPr>
                        <a:t>CDR (0.0, 0.5, 1.0, 2.0, 3.0)</a:t>
                      </a:r>
                      <a:endParaRPr lang="nl-NL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MRIs Available (T1, T2, FLAIR)</a:t>
                      </a: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965419170"/>
                  </a:ext>
                </a:extLst>
              </a:tr>
              <a:tr h="186791">
                <a:tc gridSpan="9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ALZHEIMERS DISEASE NEUROIMAGING INITIATIVE [ ADNI ]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911271"/>
                  </a:ext>
                </a:extLst>
              </a:tr>
              <a:tr h="16981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AMYLOID-NEGATIVE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726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51.71%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72.23 ± 7.53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16.56 ± 2.44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M=370, 50.96%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632, 56, 17, 3 , 1, 11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399, 299, 27, 1, 0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726, 725, 350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3565678768"/>
                  </a:ext>
                </a:extLst>
              </a:tr>
              <a:tr h="1783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F=356, 49.04%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405465"/>
                  </a:ext>
                </a:extLst>
              </a:tr>
              <a:tr h="16981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AMYLOID-POSITIVE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678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48.29%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74.79 ± 7.57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16.06 ± 2.68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M=332, 48.97%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614,39,12,0,1,10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178, 379, 112, 7, 1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678, 678, 330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3312035002"/>
                  </a:ext>
                </a:extLst>
              </a:tr>
              <a:tr h="1783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F=346, 51.03%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1082"/>
                  </a:ext>
                </a:extLst>
              </a:tr>
              <a:tr h="178302">
                <a:tc gridSpan="9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OPEN ACCESS SERIES OF IMAGING STUDIES  [ OASIS ]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865090"/>
                  </a:ext>
                </a:extLst>
              </a:tr>
              <a:tr h="16981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AMYLOID-NEGATIVE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631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65.59%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68.80 ± 8.62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16.10 ± 2.50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M=267, 42.31%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520, 104, 4, 1 , 0, 2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591, 37, 3, 0, 0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629, 586, 398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642909741"/>
                  </a:ext>
                </a:extLst>
              </a:tr>
              <a:tr h="1783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F=356, 49.04%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002014"/>
                  </a:ext>
                </a:extLst>
              </a:tr>
              <a:tr h="16981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AMYLOID-POSITIVE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331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34.41%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74.55 ± 6.79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15.90 ± 2.76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M=158, 47.73%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300, 28, 2, 0, 0, 1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194, 96, 36, 4, 1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329, 304, 227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3336445605"/>
                  </a:ext>
                </a:extLst>
              </a:tr>
              <a:tr h="1783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F=346, 51.03%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20472"/>
                  </a:ext>
                </a:extLst>
              </a:tr>
              <a:tr h="178302">
                <a:tc gridSpan="9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NATIONAL ALZHEIMERS  COORDINATING CENTER [ NCCA ]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549005"/>
                  </a:ext>
                </a:extLst>
              </a:tr>
              <a:tr h="18679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AMYLOID-NEGATIVE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2311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55.12%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70.28 ± 8.83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16.21 ± 2.85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M=1073, 46.43%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1899, 237, 62, 22 , 3, 65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1231, 788, 194, 64, 33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129, 0, 0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3199076524"/>
                  </a:ext>
                </a:extLst>
              </a:tr>
              <a:tr h="1783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F=1238, 53.57%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074970"/>
                  </a:ext>
                </a:extLst>
              </a:tr>
              <a:tr h="16981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AMYLOID-POSITIVE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1882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44.88%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71.51 ± 8.75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16.25 ± 2.75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M=908, 48.25%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1723, 87, 27, 5, 0, 29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325, 884, 470, 147, 56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79, 0, 0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3402748352"/>
                  </a:ext>
                </a:extLst>
              </a:tr>
              <a:tr h="1783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F=974, 51.75%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146761"/>
                  </a:ext>
                </a:extLst>
              </a:tr>
              <a:tr h="178302">
                <a:tc gridSpan="9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ANTI-AMYLOID TREATMENT IN ASYMTOMATIC ALZHEIMER’S DISEASE [ A4 ]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484550"/>
                  </a:ext>
                </a:extLst>
              </a:tr>
              <a:tr h="18679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AMYLOID-NEGATIVE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3156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70.53%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70.89 ± 4.49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16.57 ± 2.83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M=1277, 40.46%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2846, 127, 136, 7 , 2, 2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3156, 0, 0, 0, 0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623, 624, 104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3501003524"/>
                  </a:ext>
                </a:extLst>
              </a:tr>
              <a:tr h="1783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F=1879, 49.04%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2869"/>
                  </a:ext>
                </a:extLst>
              </a:tr>
              <a:tr h="16981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AMYLOID-POSITIVE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1319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29.47%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72.23 ± 4.94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16.62 ± 2.85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M=544, 41.24%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1236, 32, 34, 2, 0, 6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1319, 0, 0, 0, 0</a:t>
                      </a:r>
                      <a:endParaRPr lang="en-US" sz="800" b="0" i="0" u="none" strike="noStrike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1156, 1156, 280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extLst>
                  <a:ext uri="{0D108BD9-81ED-4DB2-BD59-A6C34878D82A}">
                    <a16:rowId xmlns:a16="http://schemas.microsoft.com/office/drawing/2014/main" val="1023700544"/>
                  </a:ext>
                </a:extLst>
              </a:tr>
              <a:tr h="1783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F=775, 51.03%</a:t>
                      </a:r>
                      <a:endParaRPr lang="en-US" sz="800" b="0" i="0" u="none" strike="noStrike" dirty="0">
                        <a:solidFill>
                          <a:srgbClr val="2A39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81" marR="6881" marT="6881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02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10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SYNTHESIS WORKFLOW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94" y="1082566"/>
            <a:ext cx="8773794" cy="337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9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SYNTHESIS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0123" y="789782"/>
            <a:ext cx="6064469" cy="433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6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SYNTHESIS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39" y="774919"/>
            <a:ext cx="8233669" cy="380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9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2421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9369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SYNTHESIS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813" y="717397"/>
            <a:ext cx="4339078" cy="22702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468" y="720628"/>
            <a:ext cx="4210871" cy="22670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7380" y="3077352"/>
            <a:ext cx="4225158" cy="198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20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SzPts val="4800"/>
            </a:pPr>
            <a:r>
              <a:rPr lang="en-US" sz="18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QUANTIFICATION</a:t>
            </a:r>
            <a:endParaRPr lang="en-US"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26" y="861411"/>
            <a:ext cx="7923335" cy="37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2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Clr>
                <a:srgbClr val="000000"/>
              </a:buClr>
              <a:buSzPts val="4800"/>
            </a:pP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QUANTIFICATION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1" y="953396"/>
            <a:ext cx="8093252" cy="358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7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8834" b="-38832"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2;p2" descr="A blue logo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4565" t="11170" r="5681" b="16255"/>
          <a:stretch/>
        </p:blipFill>
        <p:spPr>
          <a:xfrm>
            <a:off x="8343906" y="4614979"/>
            <a:ext cx="736821" cy="5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0;p2"/>
          <p:cNvSpPr/>
          <p:nvPr/>
        </p:nvSpPr>
        <p:spPr>
          <a:xfrm>
            <a:off x="191530" y="76760"/>
            <a:ext cx="8649729" cy="658467"/>
          </a:xfrm>
          <a:custGeom>
            <a:avLst/>
            <a:gdLst/>
            <a:ahLst/>
            <a:cxnLst/>
            <a:rect l="l" t="t" r="r" b="b"/>
            <a:pathLst>
              <a:path w="10988834" h="7432062" extrusionOk="0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700" dirty="0"/>
          </a:p>
        </p:txBody>
      </p:sp>
      <p:sp>
        <p:nvSpPr>
          <p:cNvPr id="7" name="Google Shape;97;p2"/>
          <p:cNvSpPr txBox="1"/>
          <p:nvPr/>
        </p:nvSpPr>
        <p:spPr>
          <a:xfrm>
            <a:off x="475735" y="146242"/>
            <a:ext cx="8254313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4666"/>
              </a:lnSpc>
              <a:buSzPts val="4800"/>
            </a:pPr>
            <a:r>
              <a:rPr lang="en-US" sz="18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MRI-BASED PET AMYLOID </a:t>
            </a:r>
            <a:r>
              <a:rPr lang="en-US" sz="1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QUANTIFICATION METHODS / SCALING</a:t>
            </a:r>
            <a:endParaRPr lang="en-US"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35" y="804709"/>
            <a:ext cx="2712308" cy="42167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103" y="1526060"/>
            <a:ext cx="5071754" cy="248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0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4117</TotalTime>
  <Words>544</Words>
  <Application>Microsoft Office PowerPoint</Application>
  <PresentationFormat>On-screen Show (16:9)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Raleway</vt:lpstr>
      <vt:lpstr>Arial</vt:lpstr>
      <vt:lpstr>Inter</vt:lpstr>
      <vt:lpstr>Roboto</vt:lpstr>
      <vt:lpstr>Geometric</vt:lpstr>
      <vt:lpstr>MRI-BASED PET AMYLOID SYNTHESIS &amp; QUANTIFICATION  FOR  EARLY ALZHEIMER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277</cp:revision>
  <dcterms:modified xsi:type="dcterms:W3CDTF">2026-06-11T11:19:29Z</dcterms:modified>
</cp:coreProperties>
</file>