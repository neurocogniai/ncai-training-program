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6"/>
  </p:notesMasterIdLst>
  <p:sldIdLst>
    <p:sldId id="256" r:id="rId2"/>
    <p:sldId id="484" r:id="rId3"/>
    <p:sldId id="492" r:id="rId4"/>
    <p:sldId id="485" r:id="rId5"/>
    <p:sldId id="486" r:id="rId6"/>
    <p:sldId id="487" r:id="rId7"/>
    <p:sldId id="489" r:id="rId8"/>
    <p:sldId id="490" r:id="rId9"/>
    <p:sldId id="491" r:id="rId10"/>
    <p:sldId id="479" r:id="rId11"/>
    <p:sldId id="480" r:id="rId12"/>
    <p:sldId id="483" r:id="rId13"/>
    <p:sldId id="482" r:id="rId14"/>
    <p:sldId id="481" r:id="rId15"/>
  </p:sldIdLst>
  <p:sldSz cx="9144000" cy="5143500" type="screen16x9"/>
  <p:notesSz cx="6858000" cy="9144000"/>
  <p:embeddedFontLst>
    <p:embeddedFont>
      <p:font typeface="Calibri" panose="020F0502020204030204" pitchFamily="34" charset="0"/>
      <p:regular r:id="rId17"/>
      <p:bold r:id="rId18"/>
      <p:italic r:id="rId19"/>
      <p:boldItalic r:id="rId20"/>
    </p:embeddedFont>
    <p:embeddedFont>
      <p:font typeface="Roboto" panose="020B0604020202020204" charset="0"/>
      <p:regular r:id="rId21"/>
      <p:bold r:id="rId22"/>
      <p:italic r:id="rId23"/>
      <p:boldItalic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24" d="100"/>
          <a:sy n="124" d="100"/>
        </p:scale>
        <p:origin x="274" y="91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643333213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9769710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02998875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566071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12464325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75781394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75601771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14114439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60691151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6164548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40835411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74740846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37473536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1501348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dk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11" name="Google Shape;11;p2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10800000" flipH="1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dk1"/>
        </a:solidFill>
        <a:effectLst/>
      </p:bgPr>
    </p:bg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21" name="Google Shape;21;p3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10800000" flipH="1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6" name="Google Shape;26;p3"/>
          <p:cNvSpPr txBox="1">
            <a:spLocks noGrp="1"/>
          </p:cNvSpPr>
          <p:nvPr>
            <p:ph type="title"/>
          </p:nvPr>
        </p:nvSpPr>
        <p:spPr>
          <a:xfrm>
            <a:off x="598100" y="2152347"/>
            <a:ext cx="8222100" cy="83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7" name="Google Shape;27;p3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5"/>
          <p:cNvSpPr txBox="1">
            <a:spLocks noGrp="1"/>
          </p:cNvSpPr>
          <p:nvPr>
            <p:ph type="body" idx="1"/>
          </p:nvPr>
        </p:nvSpPr>
        <p:spPr>
          <a:xfrm>
            <a:off x="311700" y="1229975"/>
            <a:ext cx="3999900" cy="333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1" name="Google Shape;41;p5"/>
          <p:cNvSpPr txBox="1">
            <a:spLocks noGrp="1"/>
          </p:cNvSpPr>
          <p:nvPr>
            <p:ph type="body" idx="2"/>
          </p:nvPr>
        </p:nvSpPr>
        <p:spPr>
          <a:xfrm>
            <a:off x="4832400" y="1229975"/>
            <a:ext cx="3999900" cy="333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2" name="Google Shape;42;p5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body" idx="1"/>
          </p:nvPr>
        </p:nvSpPr>
        <p:spPr>
          <a:xfrm>
            <a:off x="311700" y="1465804"/>
            <a:ext cx="2808000" cy="310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4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oogle Shape;51;p8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52" name="Google Shape;52;p8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53;p8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54;p8"/>
            <p:cNvSpPr/>
            <p:nvPr/>
          </p:nvSpPr>
          <p:spPr>
            <a:xfrm rot="10800000" flipH="1">
              <a:off x="7113588" y="107"/>
              <a:ext cx="1015200" cy="10152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55;p8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56;p8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7" name="Google Shape;57;p8"/>
          <p:cNvSpPr txBox="1">
            <a:spLocks noGrp="1"/>
          </p:cNvSpPr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8" name="Google Shape;58;p8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9"/>
          <p:cNvSpPr/>
          <p:nvPr/>
        </p:nvSpPr>
        <p:spPr>
          <a:xfrm>
            <a:off x="4572000" y="-1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61" name="Google Shape;61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2" name="Google Shape;62;p9"/>
          <p:cNvSpPr txBox="1">
            <a:spLocks noGrp="1"/>
          </p:cNvSpPr>
          <p:nvPr>
            <p:ph type="title"/>
          </p:nvPr>
        </p:nvSpPr>
        <p:spPr>
          <a:xfrm>
            <a:off x="265500" y="1151100"/>
            <a:ext cx="4045200" cy="1564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subTitle" idx="1"/>
          </p:nvPr>
        </p:nvSpPr>
        <p:spPr>
          <a:xfrm>
            <a:off x="265500" y="2769001"/>
            <a:ext cx="4045200" cy="126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64" name="Google Shape;64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5" name="Google Shape;65;p9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0"/>
          <p:cNvSpPr txBox="1">
            <a:spLocks noGrp="1"/>
          </p:cNvSpPr>
          <p:nvPr>
            <p:ph type="body" idx="1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68" name="Google Shape;68;p10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dk1"/>
        </a:solidFill>
        <a:effectLst/>
      </p:bgPr>
    </p:bg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11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71" name="Google Shape;71;p11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11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11"/>
            <p:cNvSpPr/>
            <p:nvPr/>
          </p:nvSpPr>
          <p:spPr>
            <a:xfrm rot="10800000" flipH="1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11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11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6" name="Google Shape;76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256050"/>
            <a:ext cx="8520600" cy="2030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7" name="Google Shape;77;p11"/>
          <p:cNvSpPr txBox="1">
            <a:spLocks noGrp="1"/>
          </p:cNvSpPr>
          <p:nvPr>
            <p:ph type="body" idx="1"/>
          </p:nvPr>
        </p:nvSpPr>
        <p:spPr>
          <a:xfrm>
            <a:off x="311700" y="3369225"/>
            <a:ext cx="8520600" cy="128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78" name="Google Shape;78;p11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2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geometric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5.gif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6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7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8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9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7" Type="http://schemas.openxmlformats.org/officeDocument/2006/relationships/image" Target="../media/image11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0.jp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2.jp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3.jp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4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7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8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9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 txBox="1">
            <a:spLocks noGrp="1"/>
          </p:cNvSpPr>
          <p:nvPr>
            <p:ph type="ctrTitle"/>
          </p:nvPr>
        </p:nvSpPr>
        <p:spPr>
          <a:xfrm>
            <a:off x="1147666" y="2269104"/>
            <a:ext cx="6791550" cy="2302896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US" sz="3280" b="1" dirty="0" smtClean="0"/>
              <a:t>ARTIFICIAL INTELLIGENCE</a:t>
            </a:r>
            <a:br>
              <a:rPr lang="en-US" sz="3280" b="1" dirty="0" smtClean="0"/>
            </a:br>
            <a:r>
              <a:rPr lang="en-US" sz="3600" b="1" dirty="0" smtClean="0"/>
              <a:t>IN</a:t>
            </a:r>
            <a:r>
              <a:rPr lang="en-US" sz="3280" b="1" dirty="0" smtClean="0"/>
              <a:t/>
            </a:r>
            <a:br>
              <a:rPr lang="en-US" sz="3280" b="1" dirty="0" smtClean="0"/>
            </a:br>
            <a:r>
              <a:rPr lang="en-US" sz="3280" b="1" dirty="0" smtClean="0"/>
              <a:t>DEEP LEARNING / GENERATIVE /</a:t>
            </a:r>
            <a:br>
              <a:rPr lang="en-US" sz="3280" b="1" dirty="0" smtClean="0"/>
            </a:br>
            <a:r>
              <a:rPr lang="en-US" sz="3280" b="1" dirty="0" smtClean="0"/>
              <a:t>AGENTIC AI MODELS</a:t>
            </a:r>
            <a:endParaRPr sz="3280" b="1" dirty="0"/>
          </a:p>
        </p:txBody>
      </p:sp>
      <p:pic>
        <p:nvPicPr>
          <p:cNvPr id="1026" name="Picture 2" descr="NeuroCongniAI Header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7887" y="1034929"/>
            <a:ext cx="6096000" cy="1038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t="-38834" b="-38832"/>
            </a:stretch>
          </a:blipFill>
          <a:ln>
            <a:noFill/>
          </a:ln>
        </p:spPr>
        <p:txBody>
          <a:bodyPr spcFirstLastPara="1" wrap="square" lIns="45713" tIns="22850" rIns="45713" bIns="22850" anchor="t" anchorCtr="0">
            <a:noAutofit/>
          </a:bodyPr>
          <a:lstStyle/>
          <a:p>
            <a:pPr>
              <a:buClr>
                <a:srgbClr val="000000"/>
              </a:buClr>
              <a:buSzPts val="1800"/>
            </a:pP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102;p2" descr="A blue logo with text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 l="4565" t="11170" r="5681" b="16255"/>
          <a:stretch/>
        </p:blipFill>
        <p:spPr>
          <a:xfrm>
            <a:off x="8343906" y="4614979"/>
            <a:ext cx="736821" cy="528521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100;p2"/>
          <p:cNvSpPr/>
          <p:nvPr/>
        </p:nvSpPr>
        <p:spPr>
          <a:xfrm>
            <a:off x="191530" y="76760"/>
            <a:ext cx="8649729" cy="658467"/>
          </a:xfrm>
          <a:custGeom>
            <a:avLst/>
            <a:gdLst/>
            <a:ahLst/>
            <a:cxnLst/>
            <a:rect l="l" t="t" r="r" b="b"/>
            <a:pathLst>
              <a:path w="10988834" h="7432062" extrusionOk="0">
                <a:moveTo>
                  <a:pt x="0" y="0"/>
                </a:moveTo>
                <a:lnTo>
                  <a:pt x="10988834" y="0"/>
                </a:lnTo>
                <a:lnTo>
                  <a:pt x="10988834" y="7432062"/>
                </a:lnTo>
                <a:lnTo>
                  <a:pt x="0" y="743206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45713" tIns="22850" rIns="45713" bIns="22850" anchor="t" anchorCtr="0">
            <a:noAutofit/>
          </a:bodyPr>
          <a:lstStyle/>
          <a:p>
            <a:pPr>
              <a:buClr>
                <a:srgbClr val="000000"/>
              </a:buClr>
              <a:buSzPts val="1400"/>
            </a:pPr>
            <a:endParaRPr sz="700" dirty="0"/>
          </a:p>
        </p:txBody>
      </p:sp>
      <p:sp>
        <p:nvSpPr>
          <p:cNvPr id="7" name="Google Shape;97;p2"/>
          <p:cNvSpPr txBox="1"/>
          <p:nvPr/>
        </p:nvSpPr>
        <p:spPr>
          <a:xfrm>
            <a:off x="475735" y="146242"/>
            <a:ext cx="8254313" cy="4293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54666"/>
              </a:lnSpc>
              <a:buClr>
                <a:srgbClr val="000000"/>
              </a:buClr>
              <a:buSzPts val="4800"/>
            </a:pPr>
            <a:r>
              <a:rPr lang="en-US" sz="1800" b="1" dirty="0" smtClean="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MRI-BASED PET AMYLOID SYNTHESIS</a:t>
            </a:r>
            <a:endParaRPr sz="1800" b="1" dirty="0"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433" y="811987"/>
            <a:ext cx="8382000" cy="381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61369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t="-38834" b="-38832"/>
            </a:stretch>
          </a:blipFill>
          <a:ln>
            <a:noFill/>
          </a:ln>
        </p:spPr>
        <p:txBody>
          <a:bodyPr spcFirstLastPara="1" wrap="square" lIns="45713" tIns="22850" rIns="45713" bIns="22850" anchor="t" anchorCtr="0">
            <a:noAutofit/>
          </a:bodyPr>
          <a:lstStyle/>
          <a:p>
            <a:pPr>
              <a:buClr>
                <a:srgbClr val="000000"/>
              </a:buClr>
              <a:buSzPts val="1800"/>
            </a:pP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102;p2" descr="A blue logo with text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 l="4565" t="11170" r="5681" b="16255"/>
          <a:stretch/>
        </p:blipFill>
        <p:spPr>
          <a:xfrm>
            <a:off x="8343906" y="4614979"/>
            <a:ext cx="736821" cy="528521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100;p2"/>
          <p:cNvSpPr/>
          <p:nvPr/>
        </p:nvSpPr>
        <p:spPr>
          <a:xfrm>
            <a:off x="191530" y="76760"/>
            <a:ext cx="8649729" cy="658467"/>
          </a:xfrm>
          <a:custGeom>
            <a:avLst/>
            <a:gdLst/>
            <a:ahLst/>
            <a:cxnLst/>
            <a:rect l="l" t="t" r="r" b="b"/>
            <a:pathLst>
              <a:path w="10988834" h="7432062" extrusionOk="0">
                <a:moveTo>
                  <a:pt x="0" y="0"/>
                </a:moveTo>
                <a:lnTo>
                  <a:pt x="10988834" y="0"/>
                </a:lnTo>
                <a:lnTo>
                  <a:pt x="10988834" y="7432062"/>
                </a:lnTo>
                <a:lnTo>
                  <a:pt x="0" y="743206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45713" tIns="22850" rIns="45713" bIns="22850" anchor="t" anchorCtr="0">
            <a:noAutofit/>
          </a:bodyPr>
          <a:lstStyle/>
          <a:p>
            <a:pPr>
              <a:buClr>
                <a:srgbClr val="000000"/>
              </a:buClr>
              <a:buSzPts val="1400"/>
            </a:pPr>
            <a:endParaRPr sz="700" dirty="0"/>
          </a:p>
        </p:txBody>
      </p:sp>
      <p:sp>
        <p:nvSpPr>
          <p:cNvPr id="7" name="Google Shape;97;p2"/>
          <p:cNvSpPr txBox="1"/>
          <p:nvPr/>
        </p:nvSpPr>
        <p:spPr>
          <a:xfrm>
            <a:off x="475735" y="146242"/>
            <a:ext cx="8254313" cy="4293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54666"/>
              </a:lnSpc>
              <a:buClr>
                <a:srgbClr val="000000"/>
              </a:buClr>
              <a:buSzPts val="4800"/>
            </a:pPr>
            <a:r>
              <a:rPr lang="en-US" sz="1800" b="1" dirty="0" smtClean="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MRI-BASED PET AMYLOID SYNTHESIS</a:t>
            </a:r>
            <a:endParaRPr sz="1800" b="1" dirty="0"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396" y="1078362"/>
            <a:ext cx="8382863" cy="31861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11300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t="-38834" b="-38832"/>
            </a:stretch>
          </a:blipFill>
          <a:ln>
            <a:noFill/>
          </a:ln>
        </p:spPr>
        <p:txBody>
          <a:bodyPr spcFirstLastPara="1" wrap="square" lIns="45713" tIns="22850" rIns="45713" bIns="22850" anchor="t" anchorCtr="0">
            <a:noAutofit/>
          </a:bodyPr>
          <a:lstStyle/>
          <a:p>
            <a:pPr>
              <a:buClr>
                <a:srgbClr val="000000"/>
              </a:buClr>
              <a:buSzPts val="1800"/>
            </a:pP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102;p2" descr="A blue logo with text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 l="4565" t="11170" r="5681" b="16255"/>
          <a:stretch/>
        </p:blipFill>
        <p:spPr>
          <a:xfrm>
            <a:off x="8343906" y="4614979"/>
            <a:ext cx="736821" cy="528521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100;p2"/>
          <p:cNvSpPr/>
          <p:nvPr/>
        </p:nvSpPr>
        <p:spPr>
          <a:xfrm>
            <a:off x="191530" y="76760"/>
            <a:ext cx="8649729" cy="658467"/>
          </a:xfrm>
          <a:custGeom>
            <a:avLst/>
            <a:gdLst/>
            <a:ahLst/>
            <a:cxnLst/>
            <a:rect l="l" t="t" r="r" b="b"/>
            <a:pathLst>
              <a:path w="10988834" h="7432062" extrusionOk="0">
                <a:moveTo>
                  <a:pt x="0" y="0"/>
                </a:moveTo>
                <a:lnTo>
                  <a:pt x="10988834" y="0"/>
                </a:lnTo>
                <a:lnTo>
                  <a:pt x="10988834" y="7432062"/>
                </a:lnTo>
                <a:lnTo>
                  <a:pt x="0" y="743206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45713" tIns="22850" rIns="45713" bIns="22850" anchor="t" anchorCtr="0">
            <a:noAutofit/>
          </a:bodyPr>
          <a:lstStyle/>
          <a:p>
            <a:pPr>
              <a:buClr>
                <a:srgbClr val="000000"/>
              </a:buClr>
              <a:buSzPts val="1400"/>
            </a:pPr>
            <a:endParaRPr sz="700" dirty="0"/>
          </a:p>
        </p:txBody>
      </p:sp>
      <p:sp>
        <p:nvSpPr>
          <p:cNvPr id="7" name="Google Shape;97;p2"/>
          <p:cNvSpPr txBox="1"/>
          <p:nvPr/>
        </p:nvSpPr>
        <p:spPr>
          <a:xfrm>
            <a:off x="475735" y="146242"/>
            <a:ext cx="8254313" cy="4293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54666"/>
              </a:lnSpc>
              <a:buSzPts val="4800"/>
            </a:pPr>
            <a:r>
              <a:rPr lang="en-US" sz="1800" b="1" dirty="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MRI-BASED PET AMYLOID SYNTHESIS &amp; QUANTIFICATION</a:t>
            </a:r>
            <a:endParaRPr lang="en-US" sz="1800" b="1" dirty="0"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726" y="861411"/>
            <a:ext cx="7923335" cy="3750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2149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t="-38834" b="-38832"/>
            </a:stretch>
          </a:blipFill>
          <a:ln>
            <a:noFill/>
          </a:ln>
        </p:spPr>
        <p:txBody>
          <a:bodyPr spcFirstLastPara="1" wrap="square" lIns="45713" tIns="22850" rIns="45713" bIns="22850" anchor="t" anchorCtr="0">
            <a:noAutofit/>
          </a:bodyPr>
          <a:lstStyle/>
          <a:p>
            <a:pPr>
              <a:buClr>
                <a:srgbClr val="000000"/>
              </a:buClr>
              <a:buSzPts val="1800"/>
            </a:pP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102;p2" descr="A blue logo with text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 l="4565" t="11170" r="5681" b="16255"/>
          <a:stretch/>
        </p:blipFill>
        <p:spPr>
          <a:xfrm>
            <a:off x="8343906" y="4614979"/>
            <a:ext cx="736821" cy="528521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100;p2"/>
          <p:cNvSpPr/>
          <p:nvPr/>
        </p:nvSpPr>
        <p:spPr>
          <a:xfrm>
            <a:off x="191530" y="76760"/>
            <a:ext cx="8649729" cy="658467"/>
          </a:xfrm>
          <a:custGeom>
            <a:avLst/>
            <a:gdLst/>
            <a:ahLst/>
            <a:cxnLst/>
            <a:rect l="l" t="t" r="r" b="b"/>
            <a:pathLst>
              <a:path w="10988834" h="7432062" extrusionOk="0">
                <a:moveTo>
                  <a:pt x="0" y="0"/>
                </a:moveTo>
                <a:lnTo>
                  <a:pt x="10988834" y="0"/>
                </a:lnTo>
                <a:lnTo>
                  <a:pt x="10988834" y="7432062"/>
                </a:lnTo>
                <a:lnTo>
                  <a:pt x="0" y="743206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45713" tIns="22850" rIns="45713" bIns="22850" anchor="t" anchorCtr="0">
            <a:noAutofit/>
          </a:bodyPr>
          <a:lstStyle/>
          <a:p>
            <a:pPr>
              <a:buClr>
                <a:srgbClr val="000000"/>
              </a:buClr>
              <a:buSzPts val="1400"/>
            </a:pPr>
            <a:endParaRPr sz="700" dirty="0"/>
          </a:p>
        </p:txBody>
      </p:sp>
      <p:sp>
        <p:nvSpPr>
          <p:cNvPr id="7" name="Google Shape;97;p2"/>
          <p:cNvSpPr txBox="1"/>
          <p:nvPr/>
        </p:nvSpPr>
        <p:spPr>
          <a:xfrm>
            <a:off x="475735" y="146242"/>
            <a:ext cx="8254313" cy="4293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54666"/>
              </a:lnSpc>
              <a:buClr>
                <a:srgbClr val="000000"/>
              </a:buClr>
              <a:buSzPts val="4800"/>
            </a:pPr>
            <a:r>
              <a:rPr lang="en-US" sz="1800" b="1" dirty="0" smtClean="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MRI-BASED PET AMYLOID SYNTHESIS &amp; QUANTIFICATION</a:t>
            </a:r>
            <a:endParaRPr sz="1800" b="1" dirty="0"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471" y="953396"/>
            <a:ext cx="8093252" cy="3581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67419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t="-38834" b="-38832"/>
            </a:stretch>
          </a:blipFill>
          <a:ln>
            <a:noFill/>
          </a:ln>
        </p:spPr>
        <p:txBody>
          <a:bodyPr spcFirstLastPara="1" wrap="square" lIns="45713" tIns="22850" rIns="45713" bIns="22850" anchor="t" anchorCtr="0">
            <a:noAutofit/>
          </a:bodyPr>
          <a:lstStyle/>
          <a:p>
            <a:pPr>
              <a:buClr>
                <a:srgbClr val="000000"/>
              </a:buClr>
              <a:buSzPts val="1800"/>
            </a:pP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102;p2" descr="A blue logo with text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 l="4565" t="11170" r="5681" b="16255"/>
          <a:stretch/>
        </p:blipFill>
        <p:spPr>
          <a:xfrm>
            <a:off x="8343906" y="4614979"/>
            <a:ext cx="736821" cy="528521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100;p2"/>
          <p:cNvSpPr/>
          <p:nvPr/>
        </p:nvSpPr>
        <p:spPr>
          <a:xfrm>
            <a:off x="191530" y="76760"/>
            <a:ext cx="8649729" cy="658467"/>
          </a:xfrm>
          <a:custGeom>
            <a:avLst/>
            <a:gdLst/>
            <a:ahLst/>
            <a:cxnLst/>
            <a:rect l="l" t="t" r="r" b="b"/>
            <a:pathLst>
              <a:path w="10988834" h="7432062" extrusionOk="0">
                <a:moveTo>
                  <a:pt x="0" y="0"/>
                </a:moveTo>
                <a:lnTo>
                  <a:pt x="10988834" y="0"/>
                </a:lnTo>
                <a:lnTo>
                  <a:pt x="10988834" y="7432062"/>
                </a:lnTo>
                <a:lnTo>
                  <a:pt x="0" y="743206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45713" tIns="22850" rIns="45713" bIns="22850" anchor="t" anchorCtr="0">
            <a:noAutofit/>
          </a:bodyPr>
          <a:lstStyle/>
          <a:p>
            <a:pPr>
              <a:buClr>
                <a:srgbClr val="000000"/>
              </a:buClr>
              <a:buSzPts val="1400"/>
            </a:pPr>
            <a:endParaRPr sz="700" dirty="0"/>
          </a:p>
        </p:txBody>
      </p:sp>
      <p:sp>
        <p:nvSpPr>
          <p:cNvPr id="7" name="Google Shape;97;p2"/>
          <p:cNvSpPr txBox="1"/>
          <p:nvPr/>
        </p:nvSpPr>
        <p:spPr>
          <a:xfrm>
            <a:off x="475735" y="146242"/>
            <a:ext cx="8254313" cy="4293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54666"/>
              </a:lnSpc>
              <a:buSzPts val="4800"/>
            </a:pPr>
            <a:r>
              <a:rPr lang="en-US" sz="1800" b="1" dirty="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MRI-BASED PET AMYLOID SYNTHESIS &amp; QUANTIFICATION</a:t>
            </a:r>
            <a:endParaRPr lang="en-US" sz="1800" b="1" dirty="0"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7141" y="820153"/>
            <a:ext cx="6240162" cy="4244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41434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t="-38834" b="-38832"/>
            </a:stretch>
          </a:blipFill>
          <a:ln>
            <a:noFill/>
          </a:ln>
        </p:spPr>
        <p:txBody>
          <a:bodyPr spcFirstLastPara="1" wrap="square" lIns="45713" tIns="22850" rIns="45713" bIns="22850" anchor="t" anchorCtr="0">
            <a:noAutofit/>
          </a:bodyPr>
          <a:lstStyle/>
          <a:p>
            <a:pPr>
              <a:buClr>
                <a:srgbClr val="000000"/>
              </a:buClr>
              <a:buSzPts val="1800"/>
            </a:pP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102;p2" descr="A blue logo with text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 l="4565" t="11170" r="5681" b="16255"/>
          <a:stretch/>
        </p:blipFill>
        <p:spPr>
          <a:xfrm>
            <a:off x="8343906" y="4614979"/>
            <a:ext cx="736821" cy="528521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100;p2"/>
          <p:cNvSpPr/>
          <p:nvPr/>
        </p:nvSpPr>
        <p:spPr>
          <a:xfrm>
            <a:off x="191530" y="76760"/>
            <a:ext cx="8649729" cy="658467"/>
          </a:xfrm>
          <a:custGeom>
            <a:avLst/>
            <a:gdLst/>
            <a:ahLst/>
            <a:cxnLst/>
            <a:rect l="l" t="t" r="r" b="b"/>
            <a:pathLst>
              <a:path w="10988834" h="7432062" extrusionOk="0">
                <a:moveTo>
                  <a:pt x="0" y="0"/>
                </a:moveTo>
                <a:lnTo>
                  <a:pt x="10988834" y="0"/>
                </a:lnTo>
                <a:lnTo>
                  <a:pt x="10988834" y="7432062"/>
                </a:lnTo>
                <a:lnTo>
                  <a:pt x="0" y="743206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45713" tIns="22850" rIns="45713" bIns="22850" anchor="t" anchorCtr="0">
            <a:noAutofit/>
          </a:bodyPr>
          <a:lstStyle/>
          <a:p>
            <a:pPr>
              <a:buClr>
                <a:srgbClr val="000000"/>
              </a:buClr>
              <a:buSzPts val="1400"/>
            </a:pPr>
            <a:endParaRPr sz="700" dirty="0"/>
          </a:p>
        </p:txBody>
      </p:sp>
      <p:sp>
        <p:nvSpPr>
          <p:cNvPr id="7" name="Google Shape;97;p2"/>
          <p:cNvSpPr txBox="1"/>
          <p:nvPr/>
        </p:nvSpPr>
        <p:spPr>
          <a:xfrm>
            <a:off x="475735" y="146242"/>
            <a:ext cx="8254313" cy="4293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54666"/>
              </a:lnSpc>
              <a:buSzPts val="4800"/>
            </a:pPr>
            <a:r>
              <a:rPr lang="en-US" sz="1800" b="1" dirty="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MRI-BASED PET AMYLOID </a:t>
            </a:r>
            <a:r>
              <a:rPr lang="en-US" sz="1800" b="1" dirty="0" smtClean="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QUANTIFICATION METHODS / SCALING</a:t>
            </a:r>
            <a:endParaRPr lang="en-US" sz="1800" b="1" dirty="0"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5735" y="804709"/>
            <a:ext cx="2712308" cy="4216743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71103" y="1526060"/>
            <a:ext cx="5071754" cy="2487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39274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t="-38834" b="-38832"/>
            </a:stretch>
          </a:blipFill>
          <a:ln>
            <a:noFill/>
          </a:ln>
        </p:spPr>
        <p:txBody>
          <a:bodyPr spcFirstLastPara="1" wrap="square" lIns="45713" tIns="22850" rIns="45713" bIns="22850" anchor="t" anchorCtr="0">
            <a:noAutofit/>
          </a:bodyPr>
          <a:lstStyle/>
          <a:p>
            <a:pPr>
              <a:buClr>
                <a:srgbClr val="000000"/>
              </a:buClr>
              <a:buSzPts val="1800"/>
            </a:pP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102;p2" descr="A blue logo with text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 l="4565" t="11170" r="5681" b="16255"/>
          <a:stretch/>
        </p:blipFill>
        <p:spPr>
          <a:xfrm>
            <a:off x="8343906" y="4614979"/>
            <a:ext cx="736821" cy="528521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100;p2"/>
          <p:cNvSpPr/>
          <p:nvPr/>
        </p:nvSpPr>
        <p:spPr>
          <a:xfrm>
            <a:off x="191530" y="76760"/>
            <a:ext cx="8649729" cy="658467"/>
          </a:xfrm>
          <a:custGeom>
            <a:avLst/>
            <a:gdLst/>
            <a:ahLst/>
            <a:cxnLst/>
            <a:rect l="l" t="t" r="r" b="b"/>
            <a:pathLst>
              <a:path w="10988834" h="7432062" extrusionOk="0">
                <a:moveTo>
                  <a:pt x="0" y="0"/>
                </a:moveTo>
                <a:lnTo>
                  <a:pt x="10988834" y="0"/>
                </a:lnTo>
                <a:lnTo>
                  <a:pt x="10988834" y="7432062"/>
                </a:lnTo>
                <a:lnTo>
                  <a:pt x="0" y="743206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45713" tIns="22850" rIns="45713" bIns="22850" anchor="t" anchorCtr="0">
            <a:noAutofit/>
          </a:bodyPr>
          <a:lstStyle/>
          <a:p>
            <a:pPr>
              <a:buClr>
                <a:srgbClr val="000000"/>
              </a:buClr>
              <a:buSzPts val="1400"/>
            </a:pPr>
            <a:endParaRPr sz="700" dirty="0"/>
          </a:p>
        </p:txBody>
      </p:sp>
      <p:sp>
        <p:nvSpPr>
          <p:cNvPr id="7" name="Google Shape;97;p2"/>
          <p:cNvSpPr txBox="1"/>
          <p:nvPr/>
        </p:nvSpPr>
        <p:spPr>
          <a:xfrm>
            <a:off x="475735" y="146242"/>
            <a:ext cx="8254313" cy="4293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54666"/>
              </a:lnSpc>
              <a:buSzPts val="4800"/>
            </a:pPr>
            <a:r>
              <a:rPr lang="en-US" sz="1800" b="1" dirty="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MRI-BASED PET AMYLOID </a:t>
            </a:r>
            <a:r>
              <a:rPr lang="en-US" sz="1800" b="1" dirty="0" smtClean="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QUANTIFICATION METHODS / SCALING</a:t>
            </a:r>
            <a:endParaRPr lang="en-US" sz="1800" b="1" dirty="0"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6827" y="796856"/>
            <a:ext cx="4924168" cy="42850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43906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t="-38834" b="-38832"/>
            </a:stretch>
          </a:blipFill>
          <a:ln>
            <a:noFill/>
          </a:ln>
        </p:spPr>
        <p:txBody>
          <a:bodyPr spcFirstLastPara="1" wrap="square" lIns="45713" tIns="22850" rIns="45713" bIns="22850" anchor="t" anchorCtr="0">
            <a:noAutofit/>
          </a:bodyPr>
          <a:lstStyle/>
          <a:p>
            <a:pPr>
              <a:buClr>
                <a:srgbClr val="000000"/>
              </a:buClr>
              <a:buSzPts val="1800"/>
            </a:pP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102;p2" descr="A blue logo with text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 l="4565" t="11170" r="5681" b="16255"/>
          <a:stretch/>
        </p:blipFill>
        <p:spPr>
          <a:xfrm>
            <a:off x="8343906" y="4614979"/>
            <a:ext cx="736821" cy="528521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100;p2"/>
          <p:cNvSpPr/>
          <p:nvPr/>
        </p:nvSpPr>
        <p:spPr>
          <a:xfrm>
            <a:off x="191530" y="76760"/>
            <a:ext cx="8649729" cy="658467"/>
          </a:xfrm>
          <a:custGeom>
            <a:avLst/>
            <a:gdLst/>
            <a:ahLst/>
            <a:cxnLst/>
            <a:rect l="l" t="t" r="r" b="b"/>
            <a:pathLst>
              <a:path w="10988834" h="7432062" extrusionOk="0">
                <a:moveTo>
                  <a:pt x="0" y="0"/>
                </a:moveTo>
                <a:lnTo>
                  <a:pt x="10988834" y="0"/>
                </a:lnTo>
                <a:lnTo>
                  <a:pt x="10988834" y="7432062"/>
                </a:lnTo>
                <a:lnTo>
                  <a:pt x="0" y="743206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45713" tIns="22850" rIns="45713" bIns="22850" anchor="t" anchorCtr="0">
            <a:noAutofit/>
          </a:bodyPr>
          <a:lstStyle/>
          <a:p>
            <a:pPr>
              <a:buClr>
                <a:srgbClr val="000000"/>
              </a:buClr>
              <a:buSzPts val="1400"/>
            </a:pPr>
            <a:endParaRPr sz="700" dirty="0"/>
          </a:p>
        </p:txBody>
      </p:sp>
      <p:sp>
        <p:nvSpPr>
          <p:cNvPr id="7" name="Google Shape;97;p2"/>
          <p:cNvSpPr txBox="1"/>
          <p:nvPr/>
        </p:nvSpPr>
        <p:spPr>
          <a:xfrm>
            <a:off x="475735" y="146242"/>
            <a:ext cx="8254313" cy="4293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54666"/>
              </a:lnSpc>
              <a:buSzPts val="4800"/>
            </a:pPr>
            <a:r>
              <a:rPr lang="en-US" sz="1800" b="1" dirty="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MRI-BASED PET AMYLOID </a:t>
            </a:r>
            <a:r>
              <a:rPr lang="en-US" sz="1800" b="1" dirty="0" smtClean="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QUANTIFICATION METHODS / SCALING</a:t>
            </a:r>
            <a:endParaRPr lang="en-US" sz="1800" b="1" dirty="0"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9757" y="793453"/>
            <a:ext cx="4905632" cy="4304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68215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t="-38834" b="-38832"/>
            </a:stretch>
          </a:blipFill>
          <a:ln>
            <a:noFill/>
          </a:ln>
        </p:spPr>
        <p:txBody>
          <a:bodyPr spcFirstLastPara="1" wrap="square" lIns="45713" tIns="22850" rIns="45713" bIns="22850" anchor="t" anchorCtr="0">
            <a:noAutofit/>
          </a:bodyPr>
          <a:lstStyle/>
          <a:p>
            <a:pPr>
              <a:buClr>
                <a:srgbClr val="000000"/>
              </a:buClr>
              <a:buSzPts val="1800"/>
            </a:pP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102;p2" descr="A blue logo with text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 l="4565" t="11170" r="5681" b="16255"/>
          <a:stretch/>
        </p:blipFill>
        <p:spPr>
          <a:xfrm>
            <a:off x="8343906" y="4614979"/>
            <a:ext cx="736821" cy="528521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100;p2"/>
          <p:cNvSpPr/>
          <p:nvPr/>
        </p:nvSpPr>
        <p:spPr>
          <a:xfrm>
            <a:off x="191530" y="76760"/>
            <a:ext cx="8649729" cy="658467"/>
          </a:xfrm>
          <a:custGeom>
            <a:avLst/>
            <a:gdLst/>
            <a:ahLst/>
            <a:cxnLst/>
            <a:rect l="l" t="t" r="r" b="b"/>
            <a:pathLst>
              <a:path w="10988834" h="7432062" extrusionOk="0">
                <a:moveTo>
                  <a:pt x="0" y="0"/>
                </a:moveTo>
                <a:lnTo>
                  <a:pt x="10988834" y="0"/>
                </a:lnTo>
                <a:lnTo>
                  <a:pt x="10988834" y="7432062"/>
                </a:lnTo>
                <a:lnTo>
                  <a:pt x="0" y="743206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45713" tIns="22850" rIns="45713" bIns="22850" anchor="t" anchorCtr="0">
            <a:noAutofit/>
          </a:bodyPr>
          <a:lstStyle/>
          <a:p>
            <a:pPr>
              <a:buClr>
                <a:srgbClr val="000000"/>
              </a:buClr>
              <a:buSzPts val="1400"/>
            </a:pPr>
            <a:endParaRPr sz="700" dirty="0"/>
          </a:p>
        </p:txBody>
      </p:sp>
      <p:sp>
        <p:nvSpPr>
          <p:cNvPr id="7" name="Google Shape;97;p2"/>
          <p:cNvSpPr txBox="1"/>
          <p:nvPr/>
        </p:nvSpPr>
        <p:spPr>
          <a:xfrm>
            <a:off x="475735" y="146242"/>
            <a:ext cx="8254313" cy="4293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54666"/>
              </a:lnSpc>
              <a:buClr>
                <a:srgbClr val="000000"/>
              </a:buClr>
              <a:buSzPts val="4800"/>
            </a:pPr>
            <a:r>
              <a:rPr lang="en-US" sz="1800" b="1" dirty="0" smtClean="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OLLAMA SERVER ARCHITECTURE</a:t>
            </a:r>
            <a:endParaRPr sz="1800" b="1" dirty="0"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7991" y="1339940"/>
            <a:ext cx="8734797" cy="2670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74278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t="-38834" b="-38832"/>
            </a:stretch>
          </a:blipFill>
          <a:ln>
            <a:noFill/>
          </a:ln>
        </p:spPr>
        <p:txBody>
          <a:bodyPr spcFirstLastPara="1" wrap="square" lIns="45713" tIns="22850" rIns="45713" bIns="22850" anchor="t" anchorCtr="0">
            <a:noAutofit/>
          </a:bodyPr>
          <a:lstStyle/>
          <a:p>
            <a:pPr>
              <a:buSzPts val="1800"/>
            </a:pPr>
            <a:r>
              <a:rPr lang="en-US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https://www.glukhov.org/llm-hosting/ollama/ollama-cheatsheet/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102;p2" descr="A blue logo with text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 l="4565" t="11170" r="5681" b="16255"/>
          <a:stretch/>
        </p:blipFill>
        <p:spPr>
          <a:xfrm>
            <a:off x="8343906" y="4614979"/>
            <a:ext cx="736821" cy="528521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100;p2"/>
          <p:cNvSpPr/>
          <p:nvPr/>
        </p:nvSpPr>
        <p:spPr>
          <a:xfrm>
            <a:off x="191530" y="76760"/>
            <a:ext cx="8649729" cy="658467"/>
          </a:xfrm>
          <a:custGeom>
            <a:avLst/>
            <a:gdLst/>
            <a:ahLst/>
            <a:cxnLst/>
            <a:rect l="l" t="t" r="r" b="b"/>
            <a:pathLst>
              <a:path w="10988834" h="7432062" extrusionOk="0">
                <a:moveTo>
                  <a:pt x="0" y="0"/>
                </a:moveTo>
                <a:lnTo>
                  <a:pt x="10988834" y="0"/>
                </a:lnTo>
                <a:lnTo>
                  <a:pt x="10988834" y="7432062"/>
                </a:lnTo>
                <a:lnTo>
                  <a:pt x="0" y="743206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45713" tIns="22850" rIns="45713" bIns="22850" anchor="t" anchorCtr="0">
            <a:noAutofit/>
          </a:bodyPr>
          <a:lstStyle/>
          <a:p>
            <a:pPr>
              <a:buClr>
                <a:srgbClr val="000000"/>
              </a:buClr>
              <a:buSzPts val="1400"/>
            </a:pPr>
            <a:endParaRPr sz="700" dirty="0"/>
          </a:p>
        </p:txBody>
      </p:sp>
      <p:sp>
        <p:nvSpPr>
          <p:cNvPr id="7" name="Google Shape;97;p2"/>
          <p:cNvSpPr txBox="1"/>
          <p:nvPr/>
        </p:nvSpPr>
        <p:spPr>
          <a:xfrm>
            <a:off x="475735" y="146242"/>
            <a:ext cx="8254313" cy="4293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54666"/>
              </a:lnSpc>
              <a:buClr>
                <a:srgbClr val="000000"/>
              </a:buClr>
              <a:buSzPts val="4800"/>
            </a:pPr>
            <a:r>
              <a:rPr lang="en-US" sz="1800" b="1" dirty="0" smtClean="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OLLAMA SERVER INSTALLATION GUIDE</a:t>
            </a:r>
            <a:endParaRPr sz="1800" b="1" dirty="0"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 flipV="1">
            <a:off x="2582829" y="1081355"/>
            <a:ext cx="10954998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5736" y="735227"/>
            <a:ext cx="8182686" cy="3763666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56711" y="4556746"/>
            <a:ext cx="6505450" cy="26445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25628" y="4555111"/>
            <a:ext cx="15119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chemeClr val="bg1"/>
                </a:solidFill>
              </a:rPr>
              <a:t>CHEAT SHEET:</a:t>
            </a:r>
            <a:endParaRPr lang="en-US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611001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t="-38834" b="-38832"/>
            </a:stretch>
          </a:blipFill>
          <a:ln>
            <a:noFill/>
          </a:ln>
        </p:spPr>
        <p:txBody>
          <a:bodyPr spcFirstLastPara="1" wrap="square" lIns="45713" tIns="22850" rIns="45713" bIns="22850" anchor="t" anchorCtr="0">
            <a:noAutofit/>
          </a:bodyPr>
          <a:lstStyle/>
          <a:p>
            <a:pPr>
              <a:buClr>
                <a:srgbClr val="000000"/>
              </a:buClr>
              <a:buSzPts val="1800"/>
            </a:pP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102;p2" descr="A blue logo with text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 l="4565" t="11170" r="5681" b="16255"/>
          <a:stretch/>
        </p:blipFill>
        <p:spPr>
          <a:xfrm>
            <a:off x="8343906" y="4614979"/>
            <a:ext cx="736821" cy="528521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100;p2"/>
          <p:cNvSpPr/>
          <p:nvPr/>
        </p:nvSpPr>
        <p:spPr>
          <a:xfrm>
            <a:off x="191530" y="76760"/>
            <a:ext cx="8649729" cy="658467"/>
          </a:xfrm>
          <a:custGeom>
            <a:avLst/>
            <a:gdLst/>
            <a:ahLst/>
            <a:cxnLst/>
            <a:rect l="l" t="t" r="r" b="b"/>
            <a:pathLst>
              <a:path w="10988834" h="7432062" extrusionOk="0">
                <a:moveTo>
                  <a:pt x="0" y="0"/>
                </a:moveTo>
                <a:lnTo>
                  <a:pt x="10988834" y="0"/>
                </a:lnTo>
                <a:lnTo>
                  <a:pt x="10988834" y="7432062"/>
                </a:lnTo>
                <a:lnTo>
                  <a:pt x="0" y="743206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45713" tIns="22850" rIns="45713" bIns="22850" anchor="t" anchorCtr="0">
            <a:noAutofit/>
          </a:bodyPr>
          <a:lstStyle/>
          <a:p>
            <a:pPr>
              <a:buClr>
                <a:srgbClr val="000000"/>
              </a:buClr>
              <a:buSzPts val="1400"/>
            </a:pPr>
            <a:endParaRPr sz="700" dirty="0"/>
          </a:p>
        </p:txBody>
      </p:sp>
      <p:sp>
        <p:nvSpPr>
          <p:cNvPr id="7" name="Google Shape;97;p2"/>
          <p:cNvSpPr txBox="1"/>
          <p:nvPr/>
        </p:nvSpPr>
        <p:spPr>
          <a:xfrm>
            <a:off x="475735" y="146242"/>
            <a:ext cx="8254313" cy="4293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54666"/>
              </a:lnSpc>
              <a:buClr>
                <a:srgbClr val="000000"/>
              </a:buClr>
              <a:buSzPts val="4800"/>
            </a:pPr>
            <a:r>
              <a:rPr lang="en-US" sz="1800" b="1" dirty="0" smtClean="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OLLAMA SERVER CHEAT SHEET</a:t>
            </a:r>
            <a:endParaRPr sz="1800" b="1" dirty="0"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 flipV="1">
            <a:off x="2582829" y="1081355"/>
            <a:ext cx="10954998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43211" y="811987"/>
            <a:ext cx="4635062" cy="4186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11660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t="-38834" b="-38832"/>
            </a:stretch>
          </a:blipFill>
          <a:ln>
            <a:noFill/>
          </a:ln>
        </p:spPr>
        <p:txBody>
          <a:bodyPr spcFirstLastPara="1" wrap="square" lIns="45713" tIns="22850" rIns="45713" bIns="22850" anchor="t" anchorCtr="0">
            <a:noAutofit/>
          </a:bodyPr>
          <a:lstStyle/>
          <a:p>
            <a:pPr>
              <a:buClr>
                <a:srgbClr val="000000"/>
              </a:buClr>
              <a:buSzPts val="1800"/>
            </a:pP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102;p2" descr="A blue logo with text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 l="4565" t="11170" r="5681" b="16255"/>
          <a:stretch/>
        </p:blipFill>
        <p:spPr>
          <a:xfrm>
            <a:off x="8343906" y="4614979"/>
            <a:ext cx="736821" cy="528521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100;p2"/>
          <p:cNvSpPr/>
          <p:nvPr/>
        </p:nvSpPr>
        <p:spPr>
          <a:xfrm>
            <a:off x="191530" y="76760"/>
            <a:ext cx="8649729" cy="658467"/>
          </a:xfrm>
          <a:custGeom>
            <a:avLst/>
            <a:gdLst/>
            <a:ahLst/>
            <a:cxnLst/>
            <a:rect l="l" t="t" r="r" b="b"/>
            <a:pathLst>
              <a:path w="10988834" h="7432062" extrusionOk="0">
                <a:moveTo>
                  <a:pt x="0" y="0"/>
                </a:moveTo>
                <a:lnTo>
                  <a:pt x="10988834" y="0"/>
                </a:lnTo>
                <a:lnTo>
                  <a:pt x="10988834" y="7432062"/>
                </a:lnTo>
                <a:lnTo>
                  <a:pt x="0" y="743206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45713" tIns="22850" rIns="45713" bIns="22850" anchor="t" anchorCtr="0">
            <a:noAutofit/>
          </a:bodyPr>
          <a:lstStyle/>
          <a:p>
            <a:pPr>
              <a:buClr>
                <a:srgbClr val="000000"/>
              </a:buClr>
              <a:buSzPts val="1400"/>
            </a:pPr>
            <a:endParaRPr sz="700" dirty="0"/>
          </a:p>
        </p:txBody>
      </p:sp>
      <p:sp>
        <p:nvSpPr>
          <p:cNvPr id="7" name="Google Shape;97;p2"/>
          <p:cNvSpPr txBox="1"/>
          <p:nvPr/>
        </p:nvSpPr>
        <p:spPr>
          <a:xfrm>
            <a:off x="475735" y="146242"/>
            <a:ext cx="8254313" cy="4293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54666"/>
              </a:lnSpc>
              <a:buClr>
                <a:srgbClr val="000000"/>
              </a:buClr>
              <a:buSzPts val="4800"/>
            </a:pPr>
            <a:r>
              <a:rPr lang="en-US" sz="1800" b="1" dirty="0" smtClean="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OLLAMA SERVER CHEAT SHEET</a:t>
            </a:r>
            <a:endParaRPr sz="1800" b="1" dirty="0"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 flipV="1">
            <a:off x="2582829" y="1081355"/>
            <a:ext cx="10954998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19786" y="757549"/>
            <a:ext cx="4244078" cy="4363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11997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t="-38834" b="-38832"/>
            </a:stretch>
          </a:blipFill>
          <a:ln>
            <a:noFill/>
          </a:ln>
        </p:spPr>
        <p:txBody>
          <a:bodyPr spcFirstLastPara="1" wrap="square" lIns="45713" tIns="22850" rIns="45713" bIns="22850" anchor="t" anchorCtr="0">
            <a:noAutofit/>
          </a:bodyPr>
          <a:lstStyle/>
          <a:p>
            <a:pPr>
              <a:buClr>
                <a:srgbClr val="000000"/>
              </a:buClr>
              <a:buSzPts val="1800"/>
            </a:pP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102;p2" descr="A blue logo with text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 l="4565" t="11170" r="5681" b="16255"/>
          <a:stretch/>
        </p:blipFill>
        <p:spPr>
          <a:xfrm>
            <a:off x="8343906" y="4614979"/>
            <a:ext cx="736821" cy="528521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100;p2"/>
          <p:cNvSpPr/>
          <p:nvPr/>
        </p:nvSpPr>
        <p:spPr>
          <a:xfrm>
            <a:off x="191530" y="76760"/>
            <a:ext cx="8649729" cy="658467"/>
          </a:xfrm>
          <a:custGeom>
            <a:avLst/>
            <a:gdLst/>
            <a:ahLst/>
            <a:cxnLst/>
            <a:rect l="l" t="t" r="r" b="b"/>
            <a:pathLst>
              <a:path w="10988834" h="7432062" extrusionOk="0">
                <a:moveTo>
                  <a:pt x="0" y="0"/>
                </a:moveTo>
                <a:lnTo>
                  <a:pt x="10988834" y="0"/>
                </a:lnTo>
                <a:lnTo>
                  <a:pt x="10988834" y="7432062"/>
                </a:lnTo>
                <a:lnTo>
                  <a:pt x="0" y="743206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45713" tIns="22850" rIns="45713" bIns="22850" anchor="t" anchorCtr="0">
            <a:noAutofit/>
          </a:bodyPr>
          <a:lstStyle/>
          <a:p>
            <a:pPr>
              <a:buClr>
                <a:srgbClr val="000000"/>
              </a:buClr>
              <a:buSzPts val="1400"/>
            </a:pPr>
            <a:endParaRPr sz="700" dirty="0"/>
          </a:p>
        </p:txBody>
      </p:sp>
      <p:sp>
        <p:nvSpPr>
          <p:cNvPr id="7" name="Google Shape;97;p2"/>
          <p:cNvSpPr txBox="1"/>
          <p:nvPr/>
        </p:nvSpPr>
        <p:spPr>
          <a:xfrm>
            <a:off x="475735" y="146242"/>
            <a:ext cx="8254313" cy="4293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54666"/>
              </a:lnSpc>
              <a:buClr>
                <a:srgbClr val="000000"/>
              </a:buClr>
              <a:buSzPts val="4800"/>
            </a:pPr>
            <a:r>
              <a:rPr lang="en-US" sz="1800" b="1" dirty="0" smtClean="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OLLAMA SERVER ARCHITECTURE</a:t>
            </a:r>
            <a:endParaRPr sz="1800" b="1" dirty="0"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2617" y="930768"/>
            <a:ext cx="7210168" cy="40557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60111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Geometric">
  <a:themeElements>
    <a:clrScheme name="Geometric">
      <a:dk1>
        <a:srgbClr val="2A3990"/>
      </a:dk1>
      <a:lt1>
        <a:srgbClr val="FFFFFF"/>
      </a:lt1>
      <a:dk2>
        <a:srgbClr val="434343"/>
      </a:dk2>
      <a:lt2>
        <a:srgbClr val="999999"/>
      </a:lt2>
      <a:accent1>
        <a:srgbClr val="212D74"/>
      </a:accent1>
      <a:accent2>
        <a:srgbClr val="3949AB"/>
      </a:accent2>
      <a:accent3>
        <a:srgbClr val="9C254D"/>
      </a:accent3>
      <a:accent4>
        <a:srgbClr val="D23369"/>
      </a:accent4>
      <a:accent5>
        <a:srgbClr val="F06292"/>
      </a:accent5>
      <a:accent6>
        <a:srgbClr val="7890CD"/>
      </a:accent6>
      <a:hlink>
        <a:srgbClr val="F06292"/>
      </a:hlink>
      <a:folHlink>
        <a:srgbClr val="F0629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3708</TotalTime>
  <Words>74</Words>
  <Application>Microsoft Office PowerPoint</Application>
  <PresentationFormat>On-screen Show (16:9)</PresentationFormat>
  <Paragraphs>19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Calibri</vt:lpstr>
      <vt:lpstr>Raleway</vt:lpstr>
      <vt:lpstr>Arial</vt:lpstr>
      <vt:lpstr>Roboto</vt:lpstr>
      <vt:lpstr>Geometric</vt:lpstr>
      <vt:lpstr>ARTIFICIAL INTELLIGENCE IN DEEP LEARNING / GENERATIVE / AGENTIC AI MODELS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ONE YEAR DIPLOMA IN ADVANCE WEB TECHNOLOGY</dc:title>
  <dc:creator>azam</dc:creator>
  <cp:lastModifiedBy>Azam</cp:lastModifiedBy>
  <cp:revision>257</cp:revision>
  <dcterms:modified xsi:type="dcterms:W3CDTF">2026-06-05T14:13:23Z</dcterms:modified>
</cp:coreProperties>
</file>