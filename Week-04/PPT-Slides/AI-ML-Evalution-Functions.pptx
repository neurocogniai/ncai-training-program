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445" r:id="rId3"/>
    <p:sldId id="447" r:id="rId4"/>
    <p:sldId id="446" r:id="rId5"/>
    <p:sldId id="444" r:id="rId6"/>
    <p:sldId id="436" r:id="rId7"/>
    <p:sldId id="437" r:id="rId8"/>
    <p:sldId id="442" r:id="rId9"/>
    <p:sldId id="443" r:id="rId10"/>
    <p:sldId id="438" r:id="rId11"/>
    <p:sldId id="432" r:id="rId12"/>
    <p:sldId id="431" r:id="rId13"/>
    <p:sldId id="408" r:id="rId14"/>
    <p:sldId id="433" r:id="rId15"/>
    <p:sldId id="434" r:id="rId16"/>
    <p:sldId id="435" r:id="rId17"/>
    <p:sldId id="409" r:id="rId18"/>
    <p:sldId id="439" r:id="rId19"/>
  </p:sldIdLst>
  <p:sldSz cx="9144000" cy="5143500" type="screen16x9"/>
  <p:notesSz cx="6858000" cy="9144000"/>
  <p:embeddedFontLs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53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888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956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972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253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439478" y="1595535"/>
            <a:ext cx="8222100" cy="17448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MACHINE LEARNING MODELS</a:t>
            </a:r>
            <a:br>
              <a:rPr lang="en-US" sz="3280" b="1" dirty="0" smtClean="0"/>
            </a:br>
            <a:r>
              <a:rPr lang="en-US" sz="3280" b="1" dirty="0" smtClean="0"/>
              <a:t>EVALUATION METRICS / FUNCTIONS</a:t>
            </a:r>
            <a:endParaRPr sz="328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 smtClean="0"/>
              <a:t>Regression / Classification Problems</a:t>
            </a: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2" y="526882"/>
            <a:ext cx="7927374" cy="432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7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 smtClean="0"/>
              <a:t>Linear Regression / Logistic Regression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58" y="526882"/>
            <a:ext cx="7048114" cy="43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1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3558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When to Use Accuracy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Balanced datasets</a:t>
            </a:r>
            <a:r>
              <a:rPr lang="en-US" dirty="0">
                <a:solidFill>
                  <a:schemeClr val="tx1"/>
                </a:solidFill>
              </a:rPr>
              <a:t>: When classes are roughly equal in size.</a:t>
            </a:r>
          </a:p>
          <a:p>
            <a:r>
              <a:rPr lang="en-US" b="1" dirty="0">
                <a:solidFill>
                  <a:schemeClr val="tx1"/>
                </a:solidFill>
              </a:rPr>
              <a:t>Simple benchmarks</a:t>
            </a:r>
            <a:r>
              <a:rPr lang="en-US" dirty="0">
                <a:solidFill>
                  <a:schemeClr val="tx1"/>
                </a:solidFill>
              </a:rPr>
              <a:t>: Quick evaluation of model performance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When to Avoid Accuracy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Imbalanced datasets</a:t>
            </a:r>
            <a:r>
              <a:rPr lang="en-US" dirty="0">
                <a:solidFill>
                  <a:schemeClr val="tx1"/>
                </a:solidFill>
              </a:rPr>
              <a:t>: For example, if 95% of examples are negative, a model that always predicts negative will have 95% accuracy but is useless.</a:t>
            </a:r>
          </a:p>
          <a:p>
            <a:r>
              <a:rPr lang="en-US" b="1" dirty="0">
                <a:solidFill>
                  <a:schemeClr val="tx1"/>
                </a:solidFill>
              </a:rPr>
              <a:t>Cost-sensitive scenarios</a:t>
            </a:r>
            <a:r>
              <a:rPr lang="en-US" dirty="0">
                <a:solidFill>
                  <a:schemeClr val="tx1"/>
                </a:solidFill>
              </a:rPr>
              <a:t>: When false positives and false negatives have different consequences (e.g., medical testing).</a:t>
            </a:r>
          </a:p>
        </p:txBody>
      </p:sp>
    </p:spTree>
    <p:extLst>
      <p:ext uri="{BB962C8B-B14F-4D97-AF65-F5344CB8AC3E}">
        <p14:creationId xmlns:p14="http://schemas.microsoft.com/office/powerpoint/2010/main" val="37776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3558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Accuracy: </a:t>
            </a:r>
            <a:r>
              <a:rPr lang="en-US" sz="2000" dirty="0" smtClean="0">
                <a:solidFill>
                  <a:schemeClr val="tx1"/>
                </a:solidFill>
              </a:rPr>
              <a:t>Accuracy </a:t>
            </a:r>
            <a:r>
              <a:rPr lang="en-US" sz="2000" dirty="0">
                <a:solidFill>
                  <a:schemeClr val="tx1"/>
                </a:solidFill>
              </a:rPr>
              <a:t>is the ratio of correctly predicted instances to the total instances. It is a simple metric but can be misleading in imbalanced </a:t>
            </a:r>
            <a:r>
              <a:rPr lang="en-US" sz="2000" dirty="0" smtClean="0">
                <a:solidFill>
                  <a:schemeClr val="tx1"/>
                </a:solidFill>
              </a:rPr>
              <a:t>datasets.</a:t>
            </a: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1813301"/>
            <a:ext cx="64960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3558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When to Use Accuracy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Balanced datasets</a:t>
            </a:r>
            <a:r>
              <a:rPr lang="en-US" dirty="0">
                <a:solidFill>
                  <a:schemeClr val="tx1"/>
                </a:solidFill>
              </a:rPr>
              <a:t>: When classes are roughly equal in size.</a:t>
            </a:r>
          </a:p>
          <a:p>
            <a:r>
              <a:rPr lang="en-US" b="1" dirty="0">
                <a:solidFill>
                  <a:schemeClr val="tx1"/>
                </a:solidFill>
              </a:rPr>
              <a:t>Simple benchmarks</a:t>
            </a:r>
            <a:r>
              <a:rPr lang="en-US" dirty="0">
                <a:solidFill>
                  <a:schemeClr val="tx1"/>
                </a:solidFill>
              </a:rPr>
              <a:t>: Quick evaluation of model performance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When to Avoid Accuracy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Imbalanced datasets</a:t>
            </a:r>
            <a:r>
              <a:rPr lang="en-US" dirty="0">
                <a:solidFill>
                  <a:schemeClr val="tx1"/>
                </a:solidFill>
              </a:rPr>
              <a:t>: For example, if 95% of examples are negative, a model that always predicts negative will have 95% accuracy but is useless.</a:t>
            </a:r>
          </a:p>
          <a:p>
            <a:r>
              <a:rPr lang="en-US" b="1" dirty="0">
                <a:solidFill>
                  <a:schemeClr val="tx1"/>
                </a:solidFill>
              </a:rPr>
              <a:t>Cost-sensitive scenarios</a:t>
            </a:r>
            <a:r>
              <a:rPr lang="en-US" dirty="0">
                <a:solidFill>
                  <a:schemeClr val="tx1"/>
                </a:solidFill>
              </a:rPr>
              <a:t>: When false positives and false negatives have different consequences (e.g., medical testing).</a:t>
            </a:r>
          </a:p>
        </p:txBody>
      </p:sp>
    </p:spTree>
    <p:extLst>
      <p:ext uri="{BB962C8B-B14F-4D97-AF65-F5344CB8AC3E}">
        <p14:creationId xmlns:p14="http://schemas.microsoft.com/office/powerpoint/2010/main" val="73042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4192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Precision: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The ratio of true positives to the sum of true positives and false positives. It answers how many selected items are relevant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Interpretation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b="1" dirty="0">
                <a:solidFill>
                  <a:schemeClr val="tx1"/>
                </a:solidFill>
              </a:rPr>
              <a:t>True Positives (TP):</a:t>
            </a:r>
            <a:r>
              <a:rPr lang="en-US" dirty="0">
                <a:solidFill>
                  <a:schemeClr val="tx1"/>
                </a:solidFill>
              </a:rPr>
              <a:t> Correctly predicted positive cases.</a:t>
            </a:r>
          </a:p>
          <a:p>
            <a:r>
              <a:rPr lang="en-US" b="1" dirty="0">
                <a:solidFill>
                  <a:schemeClr val="tx1"/>
                </a:solidFill>
              </a:rPr>
              <a:t>False Positives (FP):</a:t>
            </a:r>
            <a:r>
              <a:rPr lang="en-US" dirty="0">
                <a:solidFill>
                  <a:schemeClr val="tx1"/>
                </a:solidFill>
              </a:rPr>
              <a:t> Negative cases incorrectly predicted as positive (Type I Error).</a:t>
            </a:r>
          </a:p>
          <a:p>
            <a:r>
              <a:rPr lang="en-US" b="1" dirty="0">
                <a:solidFill>
                  <a:schemeClr val="tx1"/>
                </a:solidFill>
              </a:rPr>
              <a:t>Precision</a:t>
            </a:r>
            <a:r>
              <a:rPr lang="en-US" dirty="0">
                <a:solidFill>
                  <a:schemeClr val="tx1"/>
                </a:solidFill>
              </a:rPr>
              <a:t> answers: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"Of all the instances predicted as positive, how many are actually positive?"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32" y="1547565"/>
            <a:ext cx="62865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9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4192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Recall:</a:t>
            </a:r>
            <a:r>
              <a:rPr lang="en-US" sz="2000" dirty="0">
                <a:solidFill>
                  <a:schemeClr val="tx1"/>
                </a:solidFill>
              </a:rPr>
              <a:t> The ratio of true positives to the sum of true positives and false negatives. It answers how many relevant items are selected.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Interpretation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True Positives (TP):</a:t>
            </a:r>
            <a:r>
              <a:rPr lang="en-US" dirty="0">
                <a:solidFill>
                  <a:schemeClr val="tx1"/>
                </a:solidFill>
              </a:rPr>
              <a:t> Correctly predicted positive cases.</a:t>
            </a:r>
          </a:p>
          <a:p>
            <a:r>
              <a:rPr lang="en-US" b="1" dirty="0">
                <a:solidFill>
                  <a:schemeClr val="tx1"/>
                </a:solidFill>
              </a:rPr>
              <a:t>False Negatives (FN):</a:t>
            </a:r>
            <a:r>
              <a:rPr lang="en-US" dirty="0">
                <a:solidFill>
                  <a:schemeClr val="tx1"/>
                </a:solidFill>
              </a:rPr>
              <a:t> Positive cases incorrectly predicted as negative (Type II Error).</a:t>
            </a:r>
          </a:p>
          <a:p>
            <a:r>
              <a:rPr lang="en-US" b="1" dirty="0">
                <a:solidFill>
                  <a:schemeClr val="tx1"/>
                </a:solidFill>
              </a:rPr>
              <a:t>Recall</a:t>
            </a:r>
            <a:r>
              <a:rPr lang="en-US" dirty="0">
                <a:solidFill>
                  <a:schemeClr val="tx1"/>
                </a:solidFill>
              </a:rPr>
              <a:t> answers: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"Of all the actual positive instances, how many did we correctly predict?"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03" y="1540422"/>
            <a:ext cx="59340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9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/>
              <a:t>Evaluation Metrics for Classification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4192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F1 Score: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The harmonic mean of precision and recall. It balances precision and recall.</a:t>
            </a: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Interpretation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Balances Precision and Recall</a:t>
            </a:r>
            <a:r>
              <a:rPr lang="en-US" dirty="0">
                <a:solidFill>
                  <a:schemeClr val="tx1"/>
                </a:solidFill>
              </a:rPr>
              <a:t>: Harmonic mean (punishes extreme values more than arithmetic mean).</a:t>
            </a:r>
          </a:p>
          <a:p>
            <a:r>
              <a:rPr lang="en-US" b="1" dirty="0">
                <a:solidFill>
                  <a:schemeClr val="tx1"/>
                </a:solidFill>
              </a:rPr>
              <a:t>Range</a:t>
            </a:r>
            <a:r>
              <a:rPr lang="en-US" dirty="0">
                <a:solidFill>
                  <a:schemeClr val="tx1"/>
                </a:solidFill>
              </a:rPr>
              <a:t>: 0 (worst) to 1 (best).</a:t>
            </a:r>
          </a:p>
          <a:p>
            <a:r>
              <a:rPr lang="en-US" b="1" dirty="0">
                <a:solidFill>
                  <a:schemeClr val="tx1"/>
                </a:solidFill>
              </a:rPr>
              <a:t>Answers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"What is the tradeoff between precision and recall?"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03" y="1528927"/>
            <a:ext cx="55530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3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Evaluation </a:t>
            </a:r>
            <a:r>
              <a:rPr lang="en-US" sz="2400" b="1" dirty="0">
                <a:solidFill>
                  <a:schemeClr val="tx1"/>
                </a:solidFill>
              </a:rPr>
              <a:t>Metrics for Regression Models</a:t>
            </a:r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6"/>
            <a:ext cx="8650800" cy="42954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Mean </a:t>
            </a:r>
            <a:r>
              <a:rPr lang="en-US" b="1" dirty="0">
                <a:solidFill>
                  <a:schemeClr val="tx1"/>
                </a:solidFill>
              </a:rPr>
              <a:t>Absolute Error (MAE)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MAE measures the average magnitude of errors in a set of predictions, without considering their direction.</a:t>
            </a:r>
          </a:p>
          <a:p>
            <a:pPr marL="114300" indent="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Mean </a:t>
            </a:r>
            <a:r>
              <a:rPr lang="en-US" b="1" dirty="0">
                <a:solidFill>
                  <a:schemeClr val="tx1"/>
                </a:solidFill>
              </a:rPr>
              <a:t>Squared Error (MSE)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MSE measures the average of the squares of the errors. It penalizes larger errors more heavily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14300" indent="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Root </a:t>
            </a:r>
            <a:r>
              <a:rPr lang="en-US" b="1" dirty="0">
                <a:solidFill>
                  <a:schemeClr val="tx1"/>
                </a:solidFill>
              </a:rPr>
              <a:t>Mean Squared Error (RMSE)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RMSE is the square root of MSE and provides a measure of the standard deviation of residuals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14300" indent="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R-squared </a:t>
            </a:r>
            <a:r>
              <a:rPr lang="en-US" sz="2000" b="1" dirty="0">
                <a:solidFill>
                  <a:schemeClr val="tx1"/>
                </a:solidFill>
              </a:rPr>
              <a:t>(Coefficient of Determination)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R-squared measures the proportion of the variance in the dependent variable that is predictable from the independent variables.</a:t>
            </a:r>
          </a:p>
          <a:p>
            <a:pPr marL="1143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860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SIGMOID FUNCTION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1378624"/>
            <a:ext cx="5025798" cy="34919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710" y="691474"/>
            <a:ext cx="3783455" cy="30307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1256" y="424517"/>
            <a:ext cx="50724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sigmoid function is often used in binary classification models to map predicted values (</a:t>
            </a:r>
            <a:r>
              <a:rPr lang="en-US" dirty="0" err="1">
                <a:solidFill>
                  <a:schemeClr val="tx1"/>
                </a:solidFill>
              </a:rPr>
              <a:t>logits</a:t>
            </a:r>
            <a:r>
              <a:rPr lang="en-US" dirty="0">
                <a:solidFill>
                  <a:schemeClr val="tx1"/>
                </a:solidFill>
              </a:rPr>
              <a:t>) to probabilities. It squashes the output to a range between 0 and 1, making it interpretable as a probability.</a:t>
            </a:r>
          </a:p>
        </p:txBody>
      </p:sp>
    </p:spTree>
    <p:extLst>
      <p:ext uri="{BB962C8B-B14F-4D97-AF65-F5344CB8AC3E}">
        <p14:creationId xmlns:p14="http://schemas.microsoft.com/office/powerpoint/2010/main" val="479036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COST / LOSS FUNCTION</a:t>
            </a:r>
            <a:endParaRPr 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1493937"/>
            <a:ext cx="6829987" cy="340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6571" y="53983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cost function, or loss function, measures how well the model’s predictions match the actual values. For logistic regression, the cost function is the </a:t>
            </a:r>
            <a:r>
              <a:rPr lang="en-US" b="1" dirty="0">
                <a:solidFill>
                  <a:schemeClr val="tx1"/>
                </a:solidFill>
              </a:rPr>
              <a:t>Binary Cross-Entropy Loss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489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" sz="2400" b="1" dirty="0" smtClean="0"/>
              <a:t>COMPONENTS OF SUPERVISED MACHINE LEARNING</a:t>
            </a:r>
            <a:endParaRPr lang="en-US" sz="2400" b="1" dirty="0"/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2252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en-US" sz="2000" b="1" u="sng" dirty="0">
                <a:solidFill>
                  <a:schemeClr val="tx1"/>
                </a:solidFill>
              </a:rPr>
              <a:t>Cost Function (Loss Function)</a:t>
            </a:r>
            <a:r>
              <a:rPr lang="en-US" sz="2000" u="sng" dirty="0">
                <a:solidFill>
                  <a:schemeClr val="tx1"/>
                </a:solidFill>
              </a:rPr>
              <a:t>:</a:t>
            </a:r>
          </a:p>
          <a:p>
            <a:pPr marL="114300" indent="0" algn="just">
              <a:buNone/>
            </a:pPr>
            <a:r>
              <a:rPr lang="en-US" sz="1900" dirty="0">
                <a:solidFill>
                  <a:schemeClr val="tx1"/>
                </a:solidFill>
              </a:rPr>
              <a:t>The cost function measures how well the model's predictions match the actual labels in the training </a:t>
            </a:r>
            <a:r>
              <a:rPr lang="en-US" sz="1900" dirty="0" smtClean="0">
                <a:solidFill>
                  <a:schemeClr val="tx1"/>
                </a:solidFill>
              </a:rPr>
              <a:t>data OR </a:t>
            </a:r>
            <a:r>
              <a:rPr lang="en-US" sz="1900" dirty="0">
                <a:solidFill>
                  <a:schemeClr val="tx1"/>
                </a:solidFill>
              </a:rPr>
              <a:t>Cost (or </a:t>
            </a:r>
            <a:r>
              <a:rPr lang="en-US" sz="1900" b="1" dirty="0">
                <a:solidFill>
                  <a:schemeClr val="tx1"/>
                </a:solidFill>
              </a:rPr>
              <a:t>loss</a:t>
            </a:r>
            <a:r>
              <a:rPr lang="en-US" sz="1900" dirty="0">
                <a:solidFill>
                  <a:schemeClr val="tx1"/>
                </a:solidFill>
              </a:rPr>
              <a:t>) functions measure </a:t>
            </a:r>
            <a:r>
              <a:rPr lang="en-US" sz="1900" b="1" dirty="0">
                <a:solidFill>
                  <a:schemeClr val="tx1"/>
                </a:solidFill>
              </a:rPr>
              <a:t>how wrong</a:t>
            </a:r>
            <a:r>
              <a:rPr lang="en-US" sz="1900" dirty="0">
                <a:solidFill>
                  <a:schemeClr val="tx1"/>
                </a:solidFill>
              </a:rPr>
              <a:t> a machine learning model's predictions are compared to the actual </a:t>
            </a:r>
            <a:r>
              <a:rPr lang="en-US" sz="1900" dirty="0" smtClean="0">
                <a:solidFill>
                  <a:schemeClr val="tx1"/>
                </a:solidFill>
              </a:rPr>
              <a:t>values. </a:t>
            </a:r>
            <a:r>
              <a:rPr lang="en-US" sz="1900" dirty="0" smtClean="0">
                <a:solidFill>
                  <a:schemeClr val="tx1"/>
                </a:solidFill>
              </a:rPr>
              <a:t>It </a:t>
            </a:r>
            <a:r>
              <a:rPr lang="en-US" sz="1900" dirty="0">
                <a:solidFill>
                  <a:schemeClr val="tx1"/>
                </a:solidFill>
              </a:rPr>
              <a:t>quantifies the error between the predicted and actual outputs. Common cost functions include Mean Squared Error (MSE) for regression tasks and Cross-Entropy Loss for classification tasks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  <a:endParaRPr lang="en-US" sz="19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25" y="2886206"/>
            <a:ext cx="55911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40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COST / LOSS FUNCTION</a:t>
            </a:r>
            <a:endParaRPr lang="en-US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73" y="783771"/>
            <a:ext cx="6552078" cy="3150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753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COST / LOSS FUNCTION</a:t>
            </a:r>
            <a:endParaRPr lang="en-US" sz="24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592" y="471190"/>
            <a:ext cx="5952930" cy="4388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475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COST / LOSS FUNCTION</a:t>
            </a:r>
            <a:endParaRPr lang="en-US" sz="24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08" y="735222"/>
            <a:ext cx="7621264" cy="197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05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" sz="2400" b="1" dirty="0"/>
              <a:t>EVALUATION FUNCTIONS</a:t>
            </a:r>
            <a:endParaRPr lang="en-US" sz="2400" b="1" dirty="0"/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2252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 algn="just">
              <a:buNone/>
            </a:pPr>
            <a:r>
              <a:rPr lang="en-US" sz="2000" b="1" u="sng" dirty="0">
                <a:solidFill>
                  <a:schemeClr val="tx1"/>
                </a:solidFill>
              </a:rPr>
              <a:t>Optimizer:</a:t>
            </a:r>
          </a:p>
          <a:p>
            <a:r>
              <a:rPr lang="en-US" sz="2000" dirty="0">
                <a:solidFill>
                  <a:schemeClr val="tx1"/>
                </a:solidFill>
              </a:rPr>
              <a:t>Optimizers are algorithms used to minimize the cost function by updating the model parameters. In logistic regression, </a:t>
            </a:r>
            <a:r>
              <a:rPr lang="en-US" sz="2000" b="1" dirty="0">
                <a:solidFill>
                  <a:schemeClr val="tx1"/>
                </a:solidFill>
              </a:rPr>
              <a:t>Gradient Descent</a:t>
            </a:r>
            <a:r>
              <a:rPr lang="en-US" sz="2000" dirty="0">
                <a:solidFill>
                  <a:schemeClr val="tx1"/>
                </a:solidFill>
              </a:rPr>
              <a:t> is commonly used. There are various types of gradient descent optimizers, including: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Batch Gradient Descent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Stochastic Gradient Descent (SGD)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Mini-Batch Gradient Descent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06" y="2978418"/>
            <a:ext cx="5334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49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3650"/>
            <a:ext cx="9144000" cy="523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lang="en" sz="2400" b="1" dirty="0" smtClean="0"/>
              <a:t>EVALUATION FUNCTIONS</a:t>
            </a:r>
            <a:endParaRPr lang="en-US" sz="2400" b="1" dirty="0"/>
          </a:p>
        </p:txBody>
      </p:sp>
      <p:sp>
        <p:nvSpPr>
          <p:cNvPr id="7" name="Google Shape;77;g258990b3369_0_16"/>
          <p:cNvSpPr txBox="1">
            <a:spLocks noGrp="1"/>
          </p:cNvSpPr>
          <p:nvPr>
            <p:ph type="body" idx="1"/>
          </p:nvPr>
        </p:nvSpPr>
        <p:spPr>
          <a:xfrm>
            <a:off x="201341" y="575087"/>
            <a:ext cx="8650800" cy="2802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Sigmoid Function</a:t>
            </a:r>
            <a:r>
              <a:rPr lang="en-US" dirty="0">
                <a:solidFill>
                  <a:schemeClr val="tx1"/>
                </a:solidFill>
              </a:rPr>
              <a:t>: Maps </a:t>
            </a:r>
            <a:r>
              <a:rPr lang="en-US" dirty="0" err="1">
                <a:solidFill>
                  <a:schemeClr val="tx1"/>
                </a:solidFill>
              </a:rPr>
              <a:t>logits</a:t>
            </a:r>
            <a:r>
              <a:rPr lang="en-US" dirty="0">
                <a:solidFill>
                  <a:schemeClr val="tx1"/>
                </a:solidFill>
              </a:rPr>
              <a:t> to probabilities, essential for binary classification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tx1"/>
                </a:solidFill>
              </a:rPr>
              <a:t>Cost </a:t>
            </a:r>
            <a:r>
              <a:rPr lang="en-US" b="1" dirty="0">
                <a:solidFill>
                  <a:schemeClr val="tx1"/>
                </a:solidFill>
              </a:rPr>
              <a:t>Function</a:t>
            </a:r>
            <a:r>
              <a:rPr lang="en-US" dirty="0">
                <a:solidFill>
                  <a:schemeClr val="tx1"/>
                </a:solidFill>
              </a:rPr>
              <a:t>: Measures the error between predicted probabilities and actual labels; binary cross-entropy is used for logistic regression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14300" indent="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tx1"/>
                </a:solidFill>
              </a:rPr>
              <a:t>Optimizer</a:t>
            </a:r>
            <a:r>
              <a:rPr lang="en-US" dirty="0">
                <a:solidFill>
                  <a:schemeClr val="tx1"/>
                </a:solidFill>
              </a:rPr>
              <a:t>: Updates model parameters to minimize the cost function. Gradient Descent and its variants are commonly used optimizers.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03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677</Words>
  <Application>Microsoft Office PowerPoint</Application>
  <PresentationFormat>On-screen Show (16:9)</PresentationFormat>
  <Paragraphs>92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Roboto</vt:lpstr>
      <vt:lpstr>Arial</vt:lpstr>
      <vt:lpstr>Wingdings</vt:lpstr>
      <vt:lpstr>Geometric</vt:lpstr>
      <vt:lpstr>MACHINE LEARNING MODELS EVALUATION METRICS / FUNCTIONS</vt:lpstr>
      <vt:lpstr> Regression / Classification Problems</vt:lpstr>
      <vt:lpstr> Linear Regression / Logistic Regression</vt:lpstr>
      <vt:lpstr> Evaluation Metrics for Classification Models</vt:lpstr>
      <vt:lpstr> Evaluation Metrics for Classification Models</vt:lpstr>
      <vt:lpstr> Evaluation Metrics for Classification Models</vt:lpstr>
      <vt:lpstr> Evaluation Metrics for Classification Models</vt:lpstr>
      <vt:lpstr> Evaluation Metrics for Classification Models</vt:lpstr>
      <vt:lpstr> Evaluation Metrics for Classification Models</vt:lpstr>
      <vt:lpstr> Evaluation Metrics for Regression Models</vt:lpstr>
      <vt:lpstr>SIGMOID FUNCTION</vt:lpstr>
      <vt:lpstr>COST / LOSS FUNCTION</vt:lpstr>
      <vt:lpstr> COMPONENTS OF SUPERVISED MACHINE LEARNING</vt:lpstr>
      <vt:lpstr>COST / LOSS FUNCTION</vt:lpstr>
      <vt:lpstr>COST / LOSS FUNCTION</vt:lpstr>
      <vt:lpstr>COST / LOSS FUNCTION</vt:lpstr>
      <vt:lpstr> EVALUATION FUNCTIONS</vt:lpstr>
      <vt:lpstr> EVALUATION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178</cp:revision>
  <dcterms:modified xsi:type="dcterms:W3CDTF">2025-05-25T12:15:46Z</dcterms:modified>
</cp:coreProperties>
</file>